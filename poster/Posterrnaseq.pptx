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p:scale>
          <a:sx n="66" d="100"/>
          <a:sy n="66" d="100"/>
        </p:scale>
        <p:origin x="1094" y="-10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717413"/>
            <a:chOff x="225180" y="3930299"/>
            <a:chExt cx="14668990" cy="1717413"/>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40089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obesidad está clasificada por la Organización Mundial de la Salud como una enfermedad crónica y constituye una crisis de salud pública a nivel global. Se considera el resultado de interacciones biológicas complejas, entre las cuales la regulación genética desempeña un papel relevante. En este contexto, se plantea que los individuos obesos presentan un perfil de expresión génica distinto al de individuos </a:t>
              </a:r>
              <a:r>
                <a:rPr lang="es-ES" i="1" dirty="0" err="1">
                  <a:solidFill>
                    <a:schemeClr val="tx1"/>
                  </a:solidFill>
                </a:rPr>
                <a:t>normopeso</a:t>
              </a:r>
              <a:r>
                <a:rPr lang="es-ES" i="1" dirty="0">
                  <a:solidFill>
                    <a:schemeClr val="tx1"/>
                  </a:solidFill>
                </a:rPr>
                <a:t>, con el objetivo de identificar genes diferencialmente expresados entre ambos grupos y evaluar su relación con la obesidad.</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304813"/>
            <a:ext cx="14668990" cy="1857254"/>
            <a:chOff x="207596" y="6246158"/>
            <a:chExt cx="14668990" cy="1857254"/>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Se analizaron datos de RNA-</a:t>
              </a:r>
              <a:r>
                <a:rPr lang="es-ES" i="1" dirty="0" err="1">
                  <a:solidFill>
                    <a:schemeClr val="tx1"/>
                  </a:solidFill>
                </a:rPr>
                <a:t>seq</a:t>
              </a:r>
              <a:r>
                <a:rPr lang="es-ES" i="1" dirty="0">
                  <a:solidFill>
                    <a:schemeClr val="tx1"/>
                  </a:solidFill>
                </a:rPr>
                <a:t> simulados correspondientes a individuos obesos y </a:t>
              </a:r>
              <a:r>
                <a:rPr lang="es-ES" i="1" dirty="0" err="1">
                  <a:solidFill>
                    <a:schemeClr val="tx1"/>
                  </a:solidFill>
                </a:rPr>
                <a:t>normopeso</a:t>
              </a:r>
              <a:r>
                <a:rPr lang="es-ES" i="1" dirty="0">
                  <a:solidFill>
                    <a:schemeClr val="tx1"/>
                  </a:solidFill>
                </a:rPr>
                <a:t>. La calidad de las lecturas se evaluó mediante </a:t>
              </a:r>
              <a:r>
                <a:rPr lang="es-ES" i="1" dirty="0" err="1">
                  <a:solidFill>
                    <a:schemeClr val="tx1"/>
                  </a:solidFill>
                </a:rPr>
                <a:t>FastQC</a:t>
              </a:r>
              <a:r>
                <a:rPr lang="es-ES" i="1" dirty="0">
                  <a:solidFill>
                    <a:schemeClr val="tx1"/>
                  </a:solidFill>
                </a:rPr>
                <a:t>. La asignación y cuantificación de las lecturas se realizó mediante </a:t>
              </a:r>
              <a:r>
                <a:rPr lang="es-ES" i="1" dirty="0" err="1">
                  <a:solidFill>
                    <a:schemeClr val="tx1"/>
                  </a:solidFill>
                </a:rPr>
                <a:t>pseudoalineamiento</a:t>
              </a:r>
              <a:r>
                <a:rPr lang="es-ES" i="1" dirty="0">
                  <a:solidFill>
                    <a:schemeClr val="tx1"/>
                  </a:solidFill>
                </a:rPr>
                <a:t> con Salmon, obteniendo conteos a nivel génico. El análisis de expresión diferencial entre condiciones se llevó a cabo contrastando los métodos estadísticos DESeq2 y </a:t>
              </a:r>
              <a:r>
                <a:rPr lang="es-ES" i="1" dirty="0" err="1">
                  <a:solidFill>
                    <a:schemeClr val="tx1"/>
                  </a:solidFill>
                </a:rPr>
                <a:t>EdgeR</a:t>
              </a:r>
              <a:r>
                <a:rPr lang="es-ES" i="1" dirty="0">
                  <a:solidFill>
                    <a:schemeClr val="tx1"/>
                  </a:solidFill>
                </a:rPr>
                <a:t>, con y sin normalización, respectivamente. Los resultados se visualizaron mediante </a:t>
              </a:r>
              <a:r>
                <a:rPr lang="es-ES" i="1" dirty="0" err="1">
                  <a:solidFill>
                    <a:schemeClr val="tx1"/>
                  </a:solidFill>
                </a:rPr>
                <a:t>volcano</a:t>
              </a:r>
              <a:r>
                <a:rPr lang="es-ES" i="1" dirty="0">
                  <a:solidFill>
                    <a:schemeClr val="tx1"/>
                  </a:solidFill>
                </a:rPr>
                <a:t> </a:t>
              </a:r>
              <a:r>
                <a:rPr lang="es-ES" i="1" dirty="0" err="1">
                  <a:solidFill>
                    <a:schemeClr val="tx1"/>
                  </a:solidFill>
                </a:rPr>
                <a:t>plots</a:t>
              </a:r>
              <a:r>
                <a:rPr lang="es-ES" i="1" dirty="0">
                  <a:solidFill>
                    <a:schemeClr val="tx1"/>
                  </a:solidFill>
                </a:rPr>
                <a:t> y </a:t>
              </a:r>
              <a:r>
                <a:rPr lang="es-ES" i="1" dirty="0" err="1">
                  <a:solidFill>
                    <a:schemeClr val="tx1"/>
                  </a:solidFill>
                </a:rPr>
                <a:t>heatmaps</a:t>
              </a:r>
              <a:r>
                <a:rPr lang="es-ES" i="1" dirty="0">
                  <a:solidFill>
                    <a:schemeClr val="tx1"/>
                  </a:solidFill>
                </a:rPr>
                <a:t> en </a:t>
              </a:r>
              <a:r>
                <a:rPr lang="es-ES" i="1" dirty="0" err="1">
                  <a:solidFill>
                    <a:schemeClr val="tx1"/>
                  </a:solidFill>
                </a:rPr>
                <a:t>RStudio</a:t>
              </a:r>
              <a:r>
                <a:rPr lang="es-ES" i="1" dirty="0">
                  <a:solidFill>
                    <a:schemeClr val="tx1"/>
                  </a:solidFill>
                </a:rPr>
                <a:t>.</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3" y="6246158"/>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lnSpc>
                <a:spcPct val="80000"/>
              </a:lnSpc>
            </a:pPr>
            <a:r>
              <a:rPr lang="es-ES_tradnl" sz="2800" b="1" i="1" dirty="0">
                <a:solidFill>
                  <a:schemeClr val="bg1"/>
                </a:solidFill>
              </a:rPr>
              <a:t>Secuenciación y ómicas de Próxima Generación</a:t>
            </a:r>
            <a:endParaRPr lang="es-ES_tradnl" sz="3600" b="1" i="1" dirty="0">
              <a:solidFill>
                <a:schemeClr val="bg1"/>
              </a:solidFill>
            </a:endParaRPr>
          </a:p>
          <a:p>
            <a:pPr algn="ctr">
              <a:lnSpc>
                <a:spcPct val="80000"/>
              </a:lnSpc>
            </a:pPr>
            <a:r>
              <a:rPr lang="es-ES_tradnl" b="1" i="1" dirty="0">
                <a:solidFill>
                  <a:schemeClr val="bg1"/>
                </a:solidFill>
              </a:rPr>
              <a:t>Lidia Conde Matos, Lucía Martínez Garrido, Marina </a:t>
            </a:r>
            <a:r>
              <a:rPr lang="es-ES_tradnl" b="1" i="1" dirty="0" err="1">
                <a:solidFill>
                  <a:schemeClr val="bg1"/>
                </a:solidFill>
              </a:rPr>
              <a:t>Monzo</a:t>
            </a:r>
            <a:r>
              <a:rPr lang="es-ES_tradnl" b="1" i="1" dirty="0">
                <a:solidFill>
                  <a:schemeClr val="bg1"/>
                </a:solidFill>
              </a:rPr>
              <a:t> Gallego, Maria Elena Martínez Garrido, Miguel Grande </a:t>
            </a:r>
            <a:r>
              <a:rPr lang="es-ES_tradnl" b="1" i="1" dirty="0" err="1">
                <a:solidFill>
                  <a:schemeClr val="bg1"/>
                </a:solidFill>
              </a:rPr>
              <a:t>Falceto</a:t>
            </a:r>
            <a:r>
              <a:rPr lang="es-ES_tradnl" b="1" i="1" dirty="0">
                <a:solidFill>
                  <a:schemeClr val="bg1"/>
                </a:solidFill>
              </a:rPr>
              <a:t>, Nuria Fernández Pérez, Paula Andrea Sánchez Álvarez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El análisis de expresión diferencial identificó a LEPR y NTRK2 como los genes con cambios más robustos entre individuos obesos y </a:t>
              </a:r>
              <a:r>
                <a:rPr lang="es-ES" i="1" dirty="0" err="1">
                  <a:solidFill>
                    <a:schemeClr val="tx1"/>
                  </a:solidFill>
                </a:rPr>
                <a:t>normopeso</a:t>
              </a:r>
              <a:r>
                <a:rPr lang="es-ES" i="1" dirty="0">
                  <a:solidFill>
                    <a:schemeClr val="tx1"/>
                  </a:solidFill>
                </a:rPr>
                <a:t>, manteniendo su significación tras la normalización de los datos. La sobreexpresión de LEPR en el grupo obeso es coherente con la literatura, que describe alteraciones en la señalización del eje leptina–receptor asociadas a obesidad y resistencia a la leptina, un mecanismo clave en la regulación del balance energético (</a:t>
              </a:r>
              <a:r>
                <a:rPr lang="es-ES" i="1" dirty="0" err="1">
                  <a:solidFill>
                    <a:schemeClr val="tx1"/>
                  </a:solidFill>
                </a:rPr>
                <a:t>Durak</a:t>
              </a:r>
              <a:r>
                <a:rPr lang="es-ES" i="1" dirty="0">
                  <a:solidFill>
                    <a:schemeClr val="tx1"/>
                  </a:solidFill>
                </a:rPr>
                <a:t> et al., 2025). Por otro lado, la disminución de NTRK2, receptor del factor neurotrófico derivado del cerebro (BDNF), sugiere una posible alteración en las vías implicadas en el control del apetito y la homeostasis energética, ampliamente descritas en modelos metabólicos (Pandit et al., 2020).Otros genes clásicamente asociados a obesidad, como LEP, MC4R, BDNF o PCSK1 (Loos &amp; </a:t>
              </a:r>
              <a:r>
                <a:rPr lang="es-ES" i="1" dirty="0" err="1">
                  <a:solidFill>
                    <a:schemeClr val="tx1"/>
                  </a:solidFill>
                </a:rPr>
                <a:t>Yeo</a:t>
              </a:r>
              <a:r>
                <a:rPr lang="es-ES" i="1" dirty="0">
                  <a:solidFill>
                    <a:schemeClr val="tx1"/>
                  </a:solidFill>
                </a:rPr>
                <a:t>, 2022), mostraron diferencias de expresión únicamente en el análisis sin normalización, perdiendo significación tras este paso. </a:t>
              </a: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El análisis de RNA-</a:t>
              </a:r>
              <a:r>
                <a:rPr lang="es-ES" i="1" dirty="0" err="1">
                  <a:solidFill>
                    <a:schemeClr val="tx1"/>
                  </a:solidFill>
                </a:rPr>
                <a:t>seq</a:t>
              </a:r>
              <a:r>
                <a:rPr lang="es-ES" i="1" dirty="0">
                  <a:solidFill>
                    <a:schemeClr val="tx1"/>
                  </a:solidFill>
                </a:rPr>
                <a:t> permitió identificar genes diferencialmente expresados entre individuos obesos y </a:t>
              </a:r>
              <a:r>
                <a:rPr lang="es-ES" i="1" dirty="0" err="1">
                  <a:solidFill>
                    <a:schemeClr val="tx1"/>
                  </a:solidFill>
                </a:rPr>
                <a:t>normopeso</a:t>
              </a:r>
              <a:r>
                <a:rPr lang="es-ES" i="1" dirty="0">
                  <a:solidFill>
                    <a:schemeClr val="tx1"/>
                  </a:solidFill>
                </a:rPr>
                <a:t>, destacando LEPR y NTRK2 como los cambios más robustos tras normalización. La comparación de análisis con y sin normalización evidenció la importancia de este paso para reducir efectos técnicos. No obstante, los resultados deben interpretarse con cautela debido al tamaño muestral reducido, el desconocimiento del tejido de origen y la posible influencia de variables </a:t>
              </a:r>
              <a:r>
                <a:rPr lang="es-ES" i="1" dirty="0" err="1">
                  <a:solidFill>
                    <a:schemeClr val="tx1"/>
                  </a:solidFill>
                </a:rPr>
                <a:t>confusoras</a:t>
              </a:r>
              <a:r>
                <a:rPr lang="es-ES" i="1" dirty="0">
                  <a:solidFill>
                    <a:schemeClr val="tx1"/>
                  </a:solidFill>
                </a:rPr>
                <a:t> como la edad y el sexo.</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40" name="Rectángulo redondeado 39">
            <a:extLst>
              <a:ext uri="{FF2B5EF4-FFF2-40B4-BE49-F238E27FC236}">
                <a16:creationId xmlns:a16="http://schemas.microsoft.com/office/drawing/2014/main" id="{3F03464F-6AD8-145A-F4F0-58880920BB73}"/>
              </a:ext>
            </a:extLst>
          </p:cNvPr>
          <p:cNvSpPr/>
          <p:nvPr/>
        </p:nvSpPr>
        <p:spPr>
          <a:xfrm>
            <a:off x="518258" y="11972983"/>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 sz="1800" i="0" u="none" strike="noStrike" kern="1200" cap="none" spc="0" normalizeH="0" baseline="0" noProof="0" dirty="0" err="1">
                <a:ln>
                  <a:noFill/>
                </a:ln>
                <a:solidFill>
                  <a:schemeClr val="tx1"/>
                </a:solidFill>
                <a:effectLst/>
                <a:uLnTx/>
                <a:uFillTx/>
                <a:latin typeface="Aptos" panose="02110004020202020204"/>
                <a:ea typeface="+mn-ea"/>
                <a:cs typeface="+mn-cs"/>
              </a:rPr>
              <a:t>Heatmap</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 de expresión génica normalizada de genes analizados en las distintas muestras.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4009166"/>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7" name="Rectángulo redondeado 38">
            <a:extLst>
              <a:ext uri="{FF2B5EF4-FFF2-40B4-BE49-F238E27FC236}">
                <a16:creationId xmlns:a16="http://schemas.microsoft.com/office/drawing/2014/main" id="{37A037D7-8596-4DC2-A24E-A4159734A36B}"/>
              </a:ext>
            </a:extLst>
          </p:cNvPr>
          <p:cNvSpPr/>
          <p:nvPr/>
        </p:nvSpPr>
        <p:spPr>
          <a:xfrm>
            <a:off x="518258" y="8248681"/>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Volcano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plot</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del análisis de expresión diferencial entre individuos obesos y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normopeso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tras normalización. Se representan el cambio de expresión (log2FoldChange) y la significación estadística (–log10(</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padj</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2" name="CuadroTexto 11">
            <a:extLst>
              <a:ext uri="{FF2B5EF4-FFF2-40B4-BE49-F238E27FC236}">
                <a16:creationId xmlns:a16="http://schemas.microsoft.com/office/drawing/2014/main" id="{967AAE85-8ACC-4BC8-8C76-FBD203C51CEF}"/>
              </a:ext>
            </a:extLst>
          </p:cNvPr>
          <p:cNvSpPr txBox="1"/>
          <p:nvPr/>
        </p:nvSpPr>
        <p:spPr>
          <a:xfrm>
            <a:off x="891251" y="9525965"/>
            <a:ext cx="8839861" cy="369332"/>
          </a:xfrm>
          <a:prstGeom prst="rect">
            <a:avLst/>
          </a:prstGeom>
          <a:noFill/>
        </p:spPr>
        <p:txBody>
          <a:bodyPr wrap="square" rtlCol="0">
            <a:spAutoFit/>
          </a:bodyPr>
          <a:lstStyle/>
          <a:p>
            <a:r>
              <a:rPr lang="es-ES" dirty="0"/>
              <a:t>Título: Análisis de expresión diferencial entre individuos obesos y </a:t>
            </a:r>
            <a:r>
              <a:rPr lang="es-ES" dirty="0" err="1"/>
              <a:t>normopeso</a:t>
            </a:r>
            <a:r>
              <a:rPr lang="es-ES" dirty="0"/>
              <a:t> (DESeq2)?</a:t>
            </a:r>
            <a:endParaRPr lang="ca-ES" dirty="0"/>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340</TotalTime>
  <Words>543</Words>
  <Application>Microsoft Office PowerPoint</Application>
  <PresentationFormat>Personalizado</PresentationFormat>
  <Paragraphs>19</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PAULA ANDREA SANCHEZ ALVAREZ</cp:lastModifiedBy>
  <cp:revision>30</cp:revision>
  <dcterms:created xsi:type="dcterms:W3CDTF">2025-04-21T10:03:24Z</dcterms:created>
  <dcterms:modified xsi:type="dcterms:W3CDTF">2025-12-19T21:06:56Z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