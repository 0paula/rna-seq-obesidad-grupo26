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7"/>
  </p:notesMasterIdLst>
  <p:sldIdLst>
    <p:sldId id="258" r:id="rId5"/>
    <p:sldId id="259" r:id="rId6"/>
  </p:sldIdLst>
  <p:sldSz cx="15119350" cy="2138362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96C9"/>
    <a:srgbClr val="59C2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911"/>
    <p:restoredTop sz="94703"/>
  </p:normalViewPr>
  <p:slideViewPr>
    <p:cSldViewPr snapToGrid="0">
      <p:cViewPr>
        <p:scale>
          <a:sx n="50" d="100"/>
          <a:sy n="50" d="100"/>
        </p:scale>
        <p:origin x="2916" y="2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notesMaster" Target="notesMasters/notes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A59E84-3FF5-4476-B12C-38F27692EF96}" type="datetimeFigureOut">
              <a:rPr lang="es-ES" smtClean="0"/>
              <a:t>21/12/2025</a:t>
            </a:fld>
            <a:endParaRPr lang="es-ES"/>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s-E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FBAA4C-6783-4AD6-AB32-DD4B8B10B0C9}" type="slidenum">
              <a:rPr lang="es-ES" smtClean="0"/>
              <a:t>‹Nº›</a:t>
            </a:fld>
            <a:endParaRPr lang="es-ES"/>
          </a:p>
        </p:txBody>
      </p:sp>
    </p:spTree>
    <p:extLst>
      <p:ext uri="{BB962C8B-B14F-4D97-AF65-F5344CB8AC3E}">
        <p14:creationId xmlns:p14="http://schemas.microsoft.com/office/powerpoint/2010/main" val="14702981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dirty="0"/>
          </a:p>
        </p:txBody>
      </p:sp>
      <p:sp>
        <p:nvSpPr>
          <p:cNvPr id="4" name="Slide Number Placeholder 3"/>
          <p:cNvSpPr>
            <a:spLocks noGrp="1"/>
          </p:cNvSpPr>
          <p:nvPr>
            <p:ph type="sldNum" sz="quarter" idx="5"/>
          </p:nvPr>
        </p:nvSpPr>
        <p:spPr/>
        <p:txBody>
          <a:bodyPr/>
          <a:lstStyle/>
          <a:p>
            <a:fld id="{50FBAA4C-6783-4AD6-AB32-DD4B8B10B0C9}" type="slidenum">
              <a:rPr lang="es-ES" smtClean="0"/>
              <a:t>1</a:t>
            </a:fld>
            <a:endParaRPr lang="es-ES"/>
          </a:p>
        </p:txBody>
      </p:sp>
    </p:spTree>
    <p:extLst>
      <p:ext uri="{BB962C8B-B14F-4D97-AF65-F5344CB8AC3E}">
        <p14:creationId xmlns:p14="http://schemas.microsoft.com/office/powerpoint/2010/main" val="40459987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33951" y="3499590"/>
            <a:ext cx="12851448" cy="7444669"/>
          </a:xfrm>
        </p:spPr>
        <p:txBody>
          <a:bodyPr anchor="b"/>
          <a:lstStyle>
            <a:lvl1pPr algn="ctr">
              <a:defRPr sz="9921"/>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89919" y="11231355"/>
            <a:ext cx="11339513" cy="5162758"/>
          </a:xfrm>
        </p:spPr>
        <p:txBody>
          <a:bodyPr/>
          <a:lstStyle>
            <a:lvl1pPr marL="0" indent="0" algn="ctr">
              <a:buNone/>
              <a:defRPr sz="3968"/>
            </a:lvl1pPr>
            <a:lvl2pPr marL="755980" indent="0" algn="ctr">
              <a:buNone/>
              <a:defRPr sz="3307"/>
            </a:lvl2pPr>
            <a:lvl3pPr marL="1511960" indent="0" algn="ctr">
              <a:buNone/>
              <a:defRPr sz="2976"/>
            </a:lvl3pPr>
            <a:lvl4pPr marL="2267941" indent="0" algn="ctr">
              <a:buNone/>
              <a:defRPr sz="2646"/>
            </a:lvl4pPr>
            <a:lvl5pPr marL="3023921" indent="0" algn="ctr">
              <a:buNone/>
              <a:defRPr sz="2646"/>
            </a:lvl5pPr>
            <a:lvl6pPr marL="3779901" indent="0" algn="ctr">
              <a:buNone/>
              <a:defRPr sz="2646"/>
            </a:lvl6pPr>
            <a:lvl7pPr marL="4535881" indent="0" algn="ctr">
              <a:buNone/>
              <a:defRPr sz="2646"/>
            </a:lvl7pPr>
            <a:lvl8pPr marL="5291861" indent="0" algn="ctr">
              <a:buNone/>
              <a:defRPr sz="2646"/>
            </a:lvl8pPr>
            <a:lvl9pPr marL="6047842" indent="0" algn="ctr">
              <a:buNone/>
              <a:defRPr sz="2646"/>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21/12/2025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497845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21/12/2025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891489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031582" y="5331063"/>
            <a:ext cx="13040439" cy="8894992"/>
          </a:xfrm>
        </p:spPr>
        <p:txBody>
          <a:bodyPr anchor="b"/>
          <a:lstStyle>
            <a:lvl1pPr>
              <a:defRPr sz="9921"/>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31582" y="14310205"/>
            <a:ext cx="13040439" cy="4677666"/>
          </a:xfrm>
        </p:spPr>
        <p:txBody>
          <a:bodyPr/>
          <a:lstStyle>
            <a:lvl1pPr marL="0" indent="0">
              <a:buNone/>
              <a:defRPr sz="3968">
                <a:solidFill>
                  <a:schemeClr val="tx1">
                    <a:tint val="82000"/>
                  </a:schemeClr>
                </a:solidFill>
              </a:defRPr>
            </a:lvl1pPr>
            <a:lvl2pPr marL="755980" indent="0">
              <a:buNone/>
              <a:defRPr sz="3307">
                <a:solidFill>
                  <a:schemeClr val="tx1">
                    <a:tint val="82000"/>
                  </a:schemeClr>
                </a:solidFill>
              </a:defRPr>
            </a:lvl2pPr>
            <a:lvl3pPr marL="1511960" indent="0">
              <a:buNone/>
              <a:defRPr sz="2976">
                <a:solidFill>
                  <a:schemeClr val="tx1">
                    <a:tint val="82000"/>
                  </a:schemeClr>
                </a:solidFill>
              </a:defRPr>
            </a:lvl3pPr>
            <a:lvl4pPr marL="2267941" indent="0">
              <a:buNone/>
              <a:defRPr sz="2646">
                <a:solidFill>
                  <a:schemeClr val="tx1">
                    <a:tint val="82000"/>
                  </a:schemeClr>
                </a:solidFill>
              </a:defRPr>
            </a:lvl4pPr>
            <a:lvl5pPr marL="3023921" indent="0">
              <a:buNone/>
              <a:defRPr sz="2646">
                <a:solidFill>
                  <a:schemeClr val="tx1">
                    <a:tint val="82000"/>
                  </a:schemeClr>
                </a:solidFill>
              </a:defRPr>
            </a:lvl5pPr>
            <a:lvl6pPr marL="3779901" indent="0">
              <a:buNone/>
              <a:defRPr sz="2646">
                <a:solidFill>
                  <a:schemeClr val="tx1">
                    <a:tint val="82000"/>
                  </a:schemeClr>
                </a:solidFill>
              </a:defRPr>
            </a:lvl6pPr>
            <a:lvl7pPr marL="4535881" indent="0">
              <a:buNone/>
              <a:defRPr sz="2646">
                <a:solidFill>
                  <a:schemeClr val="tx1">
                    <a:tint val="82000"/>
                  </a:schemeClr>
                </a:solidFill>
              </a:defRPr>
            </a:lvl7pPr>
            <a:lvl8pPr marL="5291861" indent="0">
              <a:buNone/>
              <a:defRPr sz="2646">
                <a:solidFill>
                  <a:schemeClr val="tx1">
                    <a:tint val="82000"/>
                  </a:schemeClr>
                </a:solidFill>
              </a:defRPr>
            </a:lvl8pPr>
            <a:lvl9pPr marL="6047842" indent="0">
              <a:buNone/>
              <a:defRPr sz="2646">
                <a:solidFill>
                  <a:schemeClr val="tx1">
                    <a:tint val="82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8DA1BBD-1589-104E-89D9-FD291A5EDB06}" type="datetimeFigureOut">
              <a:rPr lang="es-ES_tradnl" smtClean="0"/>
              <a:t>21/12/2025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698851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39455" y="5692400"/>
            <a:ext cx="6425724" cy="13567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654171" y="5692400"/>
            <a:ext cx="6425724" cy="13567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A8DA1BBD-1589-104E-89D9-FD291A5EDB06}" type="datetimeFigureOut">
              <a:rPr lang="es-ES_tradnl" smtClean="0"/>
              <a:t>21/12/2025</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921705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041425" y="1138485"/>
            <a:ext cx="13040439" cy="4133179"/>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41426" y="5241960"/>
            <a:ext cx="63961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es-ES"/>
              <a:t>Haga clic para modificar los estilos de texto del patrón</a:t>
            </a:r>
          </a:p>
        </p:txBody>
      </p:sp>
      <p:sp>
        <p:nvSpPr>
          <p:cNvPr id="4" name="Content Placeholder 3"/>
          <p:cNvSpPr>
            <a:spLocks noGrp="1"/>
          </p:cNvSpPr>
          <p:nvPr>
            <p:ph sz="half" idx="2"/>
          </p:nvPr>
        </p:nvSpPr>
        <p:spPr>
          <a:xfrm>
            <a:off x="1041426" y="7810963"/>
            <a:ext cx="6396193" cy="114887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654172" y="5241960"/>
            <a:ext cx="64276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es-ES"/>
              <a:t>Haga clic para modificar los estilos de texto del patrón</a:t>
            </a:r>
          </a:p>
        </p:txBody>
      </p:sp>
      <p:sp>
        <p:nvSpPr>
          <p:cNvPr id="6" name="Content Placeholder 5"/>
          <p:cNvSpPr>
            <a:spLocks noGrp="1"/>
          </p:cNvSpPr>
          <p:nvPr>
            <p:ph sz="quarter" idx="4"/>
          </p:nvPr>
        </p:nvSpPr>
        <p:spPr>
          <a:xfrm>
            <a:off x="7654172" y="7810963"/>
            <a:ext cx="6427693" cy="114887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A8DA1BBD-1589-104E-89D9-FD291A5EDB06}" type="datetimeFigureOut">
              <a:rPr lang="es-ES_tradnl" smtClean="0"/>
              <a:t>21/12/2025</a:t>
            </a:fld>
            <a:endParaRPr lang="es-ES_tradnl"/>
          </a:p>
        </p:txBody>
      </p:sp>
      <p:sp>
        <p:nvSpPr>
          <p:cNvPr id="8" name="Footer Placeholder 7"/>
          <p:cNvSpPr>
            <a:spLocks noGrp="1"/>
          </p:cNvSpPr>
          <p:nvPr>
            <p:ph type="ftr" sz="quarter" idx="11"/>
          </p:nvPr>
        </p:nvSpPr>
        <p:spPr/>
        <p:txBody>
          <a:bodyPr/>
          <a:lstStyle/>
          <a:p>
            <a:endParaRPr lang="es-ES_tradnl"/>
          </a:p>
        </p:txBody>
      </p:sp>
      <p:sp>
        <p:nvSpPr>
          <p:cNvPr id="9" name="Slide Number Placeholder 8"/>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632023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A8DA1BBD-1589-104E-89D9-FD291A5EDB06}" type="datetimeFigureOut">
              <a:rPr lang="es-ES_tradnl" smtClean="0"/>
              <a:t>21/12/2025</a:t>
            </a:fld>
            <a:endParaRPr lang="es-ES_tradnl"/>
          </a:p>
        </p:txBody>
      </p:sp>
      <p:sp>
        <p:nvSpPr>
          <p:cNvPr id="4" name="Footer Placeholder 3"/>
          <p:cNvSpPr>
            <a:spLocks noGrp="1"/>
          </p:cNvSpPr>
          <p:nvPr>
            <p:ph type="ftr" sz="quarter" idx="11"/>
          </p:nvPr>
        </p:nvSpPr>
        <p:spPr/>
        <p:txBody>
          <a:bodyPr/>
          <a:lstStyle/>
          <a:p>
            <a:endParaRPr lang="es-ES_tradnl"/>
          </a:p>
        </p:txBody>
      </p:sp>
      <p:sp>
        <p:nvSpPr>
          <p:cNvPr id="5" name="Slide Number Placeholder 4"/>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3892796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DA1BBD-1589-104E-89D9-FD291A5EDB06}" type="datetimeFigureOut">
              <a:rPr lang="es-ES_tradnl" smtClean="0"/>
              <a:t>21/12/2025</a:t>
            </a:fld>
            <a:endParaRPr lang="es-ES_tradnl"/>
          </a:p>
        </p:txBody>
      </p:sp>
      <p:sp>
        <p:nvSpPr>
          <p:cNvPr id="3" name="Footer Placeholder 2"/>
          <p:cNvSpPr>
            <a:spLocks noGrp="1"/>
          </p:cNvSpPr>
          <p:nvPr>
            <p:ph type="ftr" sz="quarter" idx="11"/>
          </p:nvPr>
        </p:nvSpPr>
        <p:spPr/>
        <p:txBody>
          <a:bodyPr/>
          <a:lstStyle/>
          <a:p>
            <a:endParaRPr lang="es-ES_tradnl"/>
          </a:p>
        </p:txBody>
      </p:sp>
      <p:sp>
        <p:nvSpPr>
          <p:cNvPr id="4" name="Slide Number Placeholder 3"/>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542561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es-ES"/>
              <a:t>Haga clic para modificar el estilo de título del patrón</a:t>
            </a:r>
            <a:endParaRPr lang="en-US" dirty="0"/>
          </a:p>
        </p:txBody>
      </p:sp>
      <p:sp>
        <p:nvSpPr>
          <p:cNvPr id="3" name="Content Placeholder 2"/>
          <p:cNvSpPr>
            <a:spLocks noGrp="1"/>
          </p:cNvSpPr>
          <p:nvPr>
            <p:ph idx="1"/>
          </p:nvPr>
        </p:nvSpPr>
        <p:spPr>
          <a:xfrm>
            <a:off x="6427693" y="3078850"/>
            <a:ext cx="7654171" cy="15196234"/>
          </a:xfrm>
        </p:spPr>
        <p:txBody>
          <a:bodyPr/>
          <a:lstStyle>
            <a:lvl1pPr>
              <a:defRPr sz="5291"/>
            </a:lvl1pPr>
            <a:lvl2pPr>
              <a:defRPr sz="4630"/>
            </a:lvl2pPr>
            <a:lvl3pPr>
              <a:defRPr sz="3968"/>
            </a:lvl3pPr>
            <a:lvl4pPr>
              <a:defRPr sz="3307"/>
            </a:lvl4pPr>
            <a:lvl5pPr>
              <a:defRPr sz="3307"/>
            </a:lvl5pPr>
            <a:lvl6pPr>
              <a:defRPr sz="3307"/>
            </a:lvl6pPr>
            <a:lvl7pPr>
              <a:defRPr sz="3307"/>
            </a:lvl7pPr>
            <a:lvl8pPr>
              <a:defRPr sz="3307"/>
            </a:lvl8pPr>
            <a:lvl9pPr>
              <a:defRPr sz="3307"/>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8DA1BBD-1589-104E-89D9-FD291A5EDB06}" type="datetimeFigureOut">
              <a:rPr lang="es-ES_tradnl" smtClean="0"/>
              <a:t>21/12/2025</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0484801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427693" y="3078850"/>
            <a:ext cx="7654171" cy="15196234"/>
          </a:xfrm>
        </p:spPr>
        <p:txBody>
          <a:bodyPr anchor="t"/>
          <a:lstStyle>
            <a:lvl1pPr marL="0" indent="0">
              <a:buNone/>
              <a:defRPr sz="5291"/>
            </a:lvl1pPr>
            <a:lvl2pPr marL="755980" indent="0">
              <a:buNone/>
              <a:defRPr sz="4630"/>
            </a:lvl2pPr>
            <a:lvl3pPr marL="1511960" indent="0">
              <a:buNone/>
              <a:defRPr sz="3968"/>
            </a:lvl3pPr>
            <a:lvl4pPr marL="2267941" indent="0">
              <a:buNone/>
              <a:defRPr sz="3307"/>
            </a:lvl4pPr>
            <a:lvl5pPr marL="3023921" indent="0">
              <a:buNone/>
              <a:defRPr sz="3307"/>
            </a:lvl5pPr>
            <a:lvl6pPr marL="3779901" indent="0">
              <a:buNone/>
              <a:defRPr sz="3307"/>
            </a:lvl6pPr>
            <a:lvl7pPr marL="4535881" indent="0">
              <a:buNone/>
              <a:defRPr sz="3307"/>
            </a:lvl7pPr>
            <a:lvl8pPr marL="5291861" indent="0">
              <a:buNone/>
              <a:defRPr sz="3307"/>
            </a:lvl8pPr>
            <a:lvl9pPr marL="6047842" indent="0">
              <a:buNone/>
              <a:defRPr sz="3307"/>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8DA1BBD-1589-104E-89D9-FD291A5EDB06}" type="datetimeFigureOut">
              <a:rPr lang="es-ES_tradnl" smtClean="0"/>
              <a:t>21/12/2025</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3777565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21/12/2025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336129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19786" y="1138480"/>
            <a:ext cx="3260110" cy="18121634"/>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039456" y="1138480"/>
            <a:ext cx="9591338" cy="1812163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21/12/2025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307249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39456" y="1138485"/>
            <a:ext cx="13040439" cy="4133179"/>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39456" y="5692400"/>
            <a:ext cx="13040439" cy="1356771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39455" y="19819457"/>
            <a:ext cx="3401854" cy="1138480"/>
          </a:xfrm>
          <a:prstGeom prst="rect">
            <a:avLst/>
          </a:prstGeom>
        </p:spPr>
        <p:txBody>
          <a:bodyPr vert="horz" lIns="91440" tIns="45720" rIns="91440" bIns="45720" rtlCol="0" anchor="ctr"/>
          <a:lstStyle>
            <a:lvl1pPr algn="l">
              <a:defRPr sz="1984">
                <a:solidFill>
                  <a:schemeClr val="tx1">
                    <a:tint val="82000"/>
                  </a:schemeClr>
                </a:solidFill>
              </a:defRPr>
            </a:lvl1pPr>
          </a:lstStyle>
          <a:p>
            <a:fld id="{A8DA1BBD-1589-104E-89D9-FD291A5EDB06}" type="datetimeFigureOut">
              <a:rPr lang="es-ES_tradnl" smtClean="0"/>
              <a:t>21/12/2025</a:t>
            </a:fld>
            <a:endParaRPr lang="es-ES_tradnl"/>
          </a:p>
        </p:txBody>
      </p:sp>
      <p:sp>
        <p:nvSpPr>
          <p:cNvPr id="5" name="Footer Placeholder 4"/>
          <p:cNvSpPr>
            <a:spLocks noGrp="1"/>
          </p:cNvSpPr>
          <p:nvPr>
            <p:ph type="ftr" sz="quarter" idx="3"/>
          </p:nvPr>
        </p:nvSpPr>
        <p:spPr>
          <a:xfrm>
            <a:off x="5008285" y="19819457"/>
            <a:ext cx="5102781" cy="1138480"/>
          </a:xfrm>
          <a:prstGeom prst="rect">
            <a:avLst/>
          </a:prstGeom>
        </p:spPr>
        <p:txBody>
          <a:bodyPr vert="horz" lIns="91440" tIns="45720" rIns="91440" bIns="45720" rtlCol="0" anchor="ctr"/>
          <a:lstStyle>
            <a:lvl1pPr algn="ctr">
              <a:defRPr sz="1984">
                <a:solidFill>
                  <a:schemeClr val="tx1">
                    <a:tint val="82000"/>
                  </a:schemeClr>
                </a:solidFill>
              </a:defRPr>
            </a:lvl1pPr>
          </a:lstStyle>
          <a:p>
            <a:endParaRPr lang="es-ES_tradnl"/>
          </a:p>
        </p:txBody>
      </p:sp>
      <p:sp>
        <p:nvSpPr>
          <p:cNvPr id="6" name="Slide Number Placeholder 5"/>
          <p:cNvSpPr>
            <a:spLocks noGrp="1"/>
          </p:cNvSpPr>
          <p:nvPr>
            <p:ph type="sldNum" sz="quarter" idx="4"/>
          </p:nvPr>
        </p:nvSpPr>
        <p:spPr>
          <a:xfrm>
            <a:off x="10678041" y="19819457"/>
            <a:ext cx="3401854" cy="1138480"/>
          </a:xfrm>
          <a:prstGeom prst="rect">
            <a:avLst/>
          </a:prstGeom>
        </p:spPr>
        <p:txBody>
          <a:bodyPr vert="horz" lIns="91440" tIns="45720" rIns="91440" bIns="45720" rtlCol="0" anchor="ctr"/>
          <a:lstStyle>
            <a:lvl1pPr algn="r">
              <a:defRPr sz="1984">
                <a:solidFill>
                  <a:schemeClr val="tx1">
                    <a:tint val="82000"/>
                  </a:schemeClr>
                </a:solidFill>
              </a:defRPr>
            </a:lvl1p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8325351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511960" rtl="0" eaLnBrk="1" latinLnBrk="0" hangingPunct="1">
        <a:lnSpc>
          <a:spcPct val="90000"/>
        </a:lnSpc>
        <a:spcBef>
          <a:spcPct val="0"/>
        </a:spcBef>
        <a:buNone/>
        <a:defRPr sz="7275" kern="1200">
          <a:solidFill>
            <a:schemeClr val="tx1"/>
          </a:solidFill>
          <a:latin typeface="+mj-lt"/>
          <a:ea typeface="+mj-ea"/>
          <a:cs typeface="+mj-cs"/>
        </a:defRPr>
      </a:lvl1pPr>
    </p:titleStyle>
    <p:bodyStyle>
      <a:lvl1pPr marL="377990" indent="-377990" algn="l" defTabSz="1511960" rtl="0" eaLnBrk="1" latinLnBrk="0" hangingPunct="1">
        <a:lnSpc>
          <a:spcPct val="90000"/>
        </a:lnSpc>
        <a:spcBef>
          <a:spcPts val="1654"/>
        </a:spcBef>
        <a:buFont typeface="Arial" panose="020B0604020202020204" pitchFamily="34" charset="0"/>
        <a:buChar char="•"/>
        <a:defRPr sz="4630" kern="1200">
          <a:solidFill>
            <a:schemeClr val="tx1"/>
          </a:solidFill>
          <a:latin typeface="+mn-lt"/>
          <a:ea typeface="+mn-ea"/>
          <a:cs typeface="+mn-cs"/>
        </a:defRPr>
      </a:lvl1pPr>
      <a:lvl2pPr marL="1133970" indent="-377990" algn="l" defTabSz="1511960" rtl="0" eaLnBrk="1" latinLnBrk="0" hangingPunct="1">
        <a:lnSpc>
          <a:spcPct val="90000"/>
        </a:lnSpc>
        <a:spcBef>
          <a:spcPts val="827"/>
        </a:spcBef>
        <a:buFont typeface="Arial" panose="020B0604020202020204" pitchFamily="34" charset="0"/>
        <a:buChar char="•"/>
        <a:defRPr sz="3968" kern="1200">
          <a:solidFill>
            <a:schemeClr val="tx1"/>
          </a:solidFill>
          <a:latin typeface="+mn-lt"/>
          <a:ea typeface="+mn-ea"/>
          <a:cs typeface="+mn-cs"/>
        </a:defRPr>
      </a:lvl2pPr>
      <a:lvl3pPr marL="1889951" indent="-377990" algn="l" defTabSz="1511960" rtl="0" eaLnBrk="1" latinLnBrk="0" hangingPunct="1">
        <a:lnSpc>
          <a:spcPct val="90000"/>
        </a:lnSpc>
        <a:spcBef>
          <a:spcPts val="827"/>
        </a:spcBef>
        <a:buFont typeface="Arial" panose="020B0604020202020204" pitchFamily="34" charset="0"/>
        <a:buChar char="•"/>
        <a:defRPr sz="3307" kern="1200">
          <a:solidFill>
            <a:schemeClr val="tx1"/>
          </a:solidFill>
          <a:latin typeface="+mn-lt"/>
          <a:ea typeface="+mn-ea"/>
          <a:cs typeface="+mn-cs"/>
        </a:defRPr>
      </a:lvl3pPr>
      <a:lvl4pPr marL="264593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4pPr>
      <a:lvl5pPr marL="340191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5pPr>
      <a:lvl6pPr marL="415789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6pPr>
      <a:lvl7pPr marL="491387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7pPr>
      <a:lvl8pPr marL="566985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8pPr>
      <a:lvl9pPr marL="642583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9pPr>
    </p:bodyStyle>
    <p:otherStyle>
      <a:defPPr>
        <a:defRPr lang="en-US"/>
      </a:defPPr>
      <a:lvl1pPr marL="0" algn="l" defTabSz="1511960" rtl="0" eaLnBrk="1" latinLnBrk="0" hangingPunct="1">
        <a:defRPr sz="2976" kern="1200">
          <a:solidFill>
            <a:schemeClr val="tx1"/>
          </a:solidFill>
          <a:latin typeface="+mn-lt"/>
          <a:ea typeface="+mn-ea"/>
          <a:cs typeface="+mn-cs"/>
        </a:defRPr>
      </a:lvl1pPr>
      <a:lvl2pPr marL="755980" algn="l" defTabSz="1511960" rtl="0" eaLnBrk="1" latinLnBrk="0" hangingPunct="1">
        <a:defRPr sz="2976" kern="1200">
          <a:solidFill>
            <a:schemeClr val="tx1"/>
          </a:solidFill>
          <a:latin typeface="+mn-lt"/>
          <a:ea typeface="+mn-ea"/>
          <a:cs typeface="+mn-cs"/>
        </a:defRPr>
      </a:lvl2pPr>
      <a:lvl3pPr marL="1511960" algn="l" defTabSz="1511960" rtl="0" eaLnBrk="1" latinLnBrk="0" hangingPunct="1">
        <a:defRPr sz="2976" kern="1200">
          <a:solidFill>
            <a:schemeClr val="tx1"/>
          </a:solidFill>
          <a:latin typeface="+mn-lt"/>
          <a:ea typeface="+mn-ea"/>
          <a:cs typeface="+mn-cs"/>
        </a:defRPr>
      </a:lvl3pPr>
      <a:lvl4pPr marL="2267941" algn="l" defTabSz="1511960" rtl="0" eaLnBrk="1" latinLnBrk="0" hangingPunct="1">
        <a:defRPr sz="2976" kern="1200">
          <a:solidFill>
            <a:schemeClr val="tx1"/>
          </a:solidFill>
          <a:latin typeface="+mn-lt"/>
          <a:ea typeface="+mn-ea"/>
          <a:cs typeface="+mn-cs"/>
        </a:defRPr>
      </a:lvl4pPr>
      <a:lvl5pPr marL="3023921" algn="l" defTabSz="1511960" rtl="0" eaLnBrk="1" latinLnBrk="0" hangingPunct="1">
        <a:defRPr sz="2976" kern="1200">
          <a:solidFill>
            <a:schemeClr val="tx1"/>
          </a:solidFill>
          <a:latin typeface="+mn-lt"/>
          <a:ea typeface="+mn-ea"/>
          <a:cs typeface="+mn-cs"/>
        </a:defRPr>
      </a:lvl5pPr>
      <a:lvl6pPr marL="3779901" algn="l" defTabSz="1511960" rtl="0" eaLnBrk="1" latinLnBrk="0" hangingPunct="1">
        <a:defRPr sz="2976" kern="1200">
          <a:solidFill>
            <a:schemeClr val="tx1"/>
          </a:solidFill>
          <a:latin typeface="+mn-lt"/>
          <a:ea typeface="+mn-ea"/>
          <a:cs typeface="+mn-cs"/>
        </a:defRPr>
      </a:lvl6pPr>
      <a:lvl7pPr marL="4535881" algn="l" defTabSz="1511960" rtl="0" eaLnBrk="1" latinLnBrk="0" hangingPunct="1">
        <a:defRPr sz="2976" kern="1200">
          <a:solidFill>
            <a:schemeClr val="tx1"/>
          </a:solidFill>
          <a:latin typeface="+mn-lt"/>
          <a:ea typeface="+mn-ea"/>
          <a:cs typeface="+mn-cs"/>
        </a:defRPr>
      </a:lvl7pPr>
      <a:lvl8pPr marL="5291861" algn="l" defTabSz="1511960" rtl="0" eaLnBrk="1" latinLnBrk="0" hangingPunct="1">
        <a:defRPr sz="2976" kern="1200">
          <a:solidFill>
            <a:schemeClr val="tx1"/>
          </a:solidFill>
          <a:latin typeface="+mn-lt"/>
          <a:ea typeface="+mn-ea"/>
          <a:cs typeface="+mn-cs"/>
        </a:defRPr>
      </a:lvl8pPr>
      <a:lvl9pPr marL="6047842" algn="l" defTabSz="1511960" rtl="0" eaLnBrk="1" latinLnBrk="0" hangingPunct="1">
        <a:defRPr sz="297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hyperlink" Target="http://www.bioinformatics.babraham.ac.uk/projects/fastqc/"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14000">
              <a:schemeClr val="bg1"/>
            </a:gs>
            <a:gs pos="99000">
              <a:srgbClr val="59C2E3">
                <a:alpha val="25000"/>
              </a:srgbClr>
            </a:gs>
          </a:gsLst>
          <a:lin ang="2700000" scaled="1"/>
          <a:tileRect/>
        </a:gradFill>
        <a:effectLst/>
      </p:bgPr>
    </p:bg>
    <p:spTree>
      <p:nvGrpSpPr>
        <p:cNvPr id="1" name="">
          <a:extLst>
            <a:ext uri="{FF2B5EF4-FFF2-40B4-BE49-F238E27FC236}">
              <a16:creationId xmlns:a16="http://schemas.microsoft.com/office/drawing/2014/main" id="{177A72C3-DD61-5B61-E46F-EDD19D1F5215}"/>
            </a:ext>
          </a:extLst>
        </p:cNvPr>
        <p:cNvGrpSpPr/>
        <p:nvPr/>
      </p:nvGrpSpPr>
      <p:grpSpPr>
        <a:xfrm>
          <a:off x="0" y="0"/>
          <a:ext cx="0" cy="0"/>
          <a:chOff x="0" y="0"/>
          <a:chExt cx="0" cy="0"/>
        </a:xfrm>
      </p:grpSpPr>
      <p:grpSp>
        <p:nvGrpSpPr>
          <p:cNvPr id="4" name="Grupo 3">
            <a:extLst>
              <a:ext uri="{FF2B5EF4-FFF2-40B4-BE49-F238E27FC236}">
                <a16:creationId xmlns:a16="http://schemas.microsoft.com/office/drawing/2014/main" id="{E1AA44F9-4D9B-B58B-32B6-5CC8410E7CBE}"/>
              </a:ext>
            </a:extLst>
          </p:cNvPr>
          <p:cNvGrpSpPr/>
          <p:nvPr/>
        </p:nvGrpSpPr>
        <p:grpSpPr>
          <a:xfrm>
            <a:off x="225180" y="3484254"/>
            <a:ext cx="14668990" cy="1717413"/>
            <a:chOff x="225180" y="3930299"/>
            <a:chExt cx="14668990" cy="1717413"/>
          </a:xfrm>
        </p:grpSpPr>
        <p:sp>
          <p:nvSpPr>
            <p:cNvPr id="8" name="Rectángulo redondeado 7">
              <a:extLst>
                <a:ext uri="{FF2B5EF4-FFF2-40B4-BE49-F238E27FC236}">
                  <a16:creationId xmlns:a16="http://schemas.microsoft.com/office/drawing/2014/main" id="{C4D1F524-44A5-F16E-9FD3-EE5EA5819EAD}"/>
                </a:ext>
              </a:extLst>
            </p:cNvPr>
            <p:cNvSpPr/>
            <p:nvPr/>
          </p:nvSpPr>
          <p:spPr>
            <a:xfrm>
              <a:off x="225180" y="4246822"/>
              <a:ext cx="14668990" cy="140089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 i="1" dirty="0">
                  <a:solidFill>
                    <a:schemeClr val="tx1"/>
                  </a:solidFill>
                </a:rPr>
                <a:t>La obesidad está clasificada por la Organización Mundial de la Salud [1,2] como una enfermedad crónica y constituye una crisis de salud pública a nivel global. Se considera el resultado de interacciones biológicas complejas, entre las cuales la regulación genética desempeña un papel relevante. En este contexto, se plantea que los individuos obesos presentan un perfil de expresión génica distinto al de individuos </a:t>
              </a:r>
              <a:r>
                <a:rPr lang="es-ES" i="1" dirty="0" err="1">
                  <a:solidFill>
                    <a:schemeClr val="tx1"/>
                  </a:solidFill>
                </a:rPr>
                <a:t>normopeso</a:t>
              </a:r>
              <a:r>
                <a:rPr lang="es-ES" i="1" dirty="0">
                  <a:solidFill>
                    <a:schemeClr val="tx1"/>
                  </a:solidFill>
                </a:rPr>
                <a:t>, con el objetivo de identificar genes diferencialmente expresados entre ambos grupos y evaluar su relación con la obesidad.</a:t>
              </a:r>
              <a:endParaRPr lang="es-ES_tradnl" sz="2400" i="1" dirty="0">
                <a:solidFill>
                  <a:schemeClr val="tx1"/>
                </a:solidFill>
              </a:endParaRPr>
            </a:p>
          </p:txBody>
        </p:sp>
        <p:sp>
          <p:nvSpPr>
            <p:cNvPr id="7" name="Rectángulo redondeado 6">
              <a:extLst>
                <a:ext uri="{FF2B5EF4-FFF2-40B4-BE49-F238E27FC236}">
                  <a16:creationId xmlns:a16="http://schemas.microsoft.com/office/drawing/2014/main" id="{15811AE5-F929-12ED-D44E-9D1519220278}"/>
                </a:ext>
              </a:extLst>
            </p:cNvPr>
            <p:cNvSpPr/>
            <p:nvPr/>
          </p:nvSpPr>
          <p:spPr>
            <a:xfrm>
              <a:off x="518258" y="393029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a:t>INTRODUCCIÓN</a:t>
              </a:r>
              <a:endParaRPr lang="es-ES_tradnl" sz="2800" b="1" dirty="0"/>
            </a:p>
          </p:txBody>
        </p:sp>
      </p:grpSp>
      <p:grpSp>
        <p:nvGrpSpPr>
          <p:cNvPr id="6" name="Grupo 5">
            <a:extLst>
              <a:ext uri="{FF2B5EF4-FFF2-40B4-BE49-F238E27FC236}">
                <a16:creationId xmlns:a16="http://schemas.microsoft.com/office/drawing/2014/main" id="{88FB225B-2F62-B172-D75B-E02EF3836A0E}"/>
              </a:ext>
            </a:extLst>
          </p:cNvPr>
          <p:cNvGrpSpPr/>
          <p:nvPr/>
        </p:nvGrpSpPr>
        <p:grpSpPr>
          <a:xfrm>
            <a:off x="207596" y="5304813"/>
            <a:ext cx="14668990" cy="1857254"/>
            <a:chOff x="207596" y="6246158"/>
            <a:chExt cx="14668990" cy="1857254"/>
          </a:xfrm>
        </p:grpSpPr>
        <p:sp>
          <p:nvSpPr>
            <p:cNvPr id="14" name="Rectángulo redondeado 13">
              <a:extLst>
                <a:ext uri="{FF2B5EF4-FFF2-40B4-BE49-F238E27FC236}">
                  <a16:creationId xmlns:a16="http://schemas.microsoft.com/office/drawing/2014/main" id="{FC179AD0-ED02-975F-E151-1E1C61EAD8F2}"/>
                </a:ext>
              </a:extLst>
            </p:cNvPr>
            <p:cNvSpPr/>
            <p:nvPr/>
          </p:nvSpPr>
          <p:spPr>
            <a:xfrm>
              <a:off x="207596" y="6427010"/>
              <a:ext cx="14668990" cy="1676402"/>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endParaRPr lang="es-ES" i="1" dirty="0">
                <a:solidFill>
                  <a:schemeClr val="tx1"/>
                </a:solidFill>
              </a:endParaRPr>
            </a:p>
            <a:p>
              <a:pPr algn="just">
                <a:lnSpc>
                  <a:spcPct val="80000"/>
                </a:lnSpc>
              </a:pPr>
              <a:r>
                <a:rPr lang="es-ES" i="1" dirty="0">
                  <a:solidFill>
                    <a:schemeClr val="tx1"/>
                  </a:solidFill>
                </a:rPr>
                <a:t>Se analizaron datos de RNA-</a:t>
              </a:r>
              <a:r>
                <a:rPr lang="es-ES" i="1" dirty="0" err="1">
                  <a:solidFill>
                    <a:schemeClr val="tx1"/>
                  </a:solidFill>
                </a:rPr>
                <a:t>seq</a:t>
              </a:r>
              <a:r>
                <a:rPr lang="es-ES" i="1" dirty="0">
                  <a:solidFill>
                    <a:schemeClr val="tx1"/>
                  </a:solidFill>
                </a:rPr>
                <a:t> simulados correspondientes a individuos obesos y </a:t>
              </a:r>
              <a:r>
                <a:rPr lang="es-ES" i="1" dirty="0" err="1">
                  <a:solidFill>
                    <a:schemeClr val="tx1"/>
                  </a:solidFill>
                </a:rPr>
                <a:t>normopeso</a:t>
              </a:r>
              <a:r>
                <a:rPr lang="es-ES" i="1" dirty="0">
                  <a:solidFill>
                    <a:schemeClr val="tx1"/>
                  </a:solidFill>
                </a:rPr>
                <a:t>. La calidad de las lecturas se evaluó mediante </a:t>
              </a:r>
              <a:r>
                <a:rPr lang="es-ES" i="1" dirty="0" err="1">
                  <a:solidFill>
                    <a:schemeClr val="tx1"/>
                  </a:solidFill>
                </a:rPr>
                <a:t>FastQC</a:t>
              </a:r>
              <a:r>
                <a:rPr lang="es-ES" i="1" dirty="0">
                  <a:solidFill>
                    <a:schemeClr val="tx1"/>
                  </a:solidFill>
                </a:rPr>
                <a:t> [3]. La asignación y cuantificación de las lecturas se realizó mediante </a:t>
              </a:r>
              <a:r>
                <a:rPr lang="es-ES" i="1" dirty="0" err="1">
                  <a:solidFill>
                    <a:schemeClr val="tx1"/>
                  </a:solidFill>
                </a:rPr>
                <a:t>pseudoalineamiento</a:t>
              </a:r>
              <a:r>
                <a:rPr lang="es-ES" i="1" dirty="0">
                  <a:solidFill>
                    <a:schemeClr val="tx1"/>
                  </a:solidFill>
                </a:rPr>
                <a:t> con Salmon [4], obteniendo conteos a nivel génico. El análisis de expresión diferencial entre condiciones se llevó a cabo contrastando los métodos estadísticos DESeq2 [5] y </a:t>
              </a:r>
              <a:r>
                <a:rPr lang="es-ES" i="1" dirty="0" err="1">
                  <a:solidFill>
                    <a:schemeClr val="tx1"/>
                  </a:solidFill>
                </a:rPr>
                <a:t>EdgeR</a:t>
              </a:r>
              <a:r>
                <a:rPr lang="es-ES" i="1" dirty="0">
                  <a:solidFill>
                    <a:schemeClr val="tx1"/>
                  </a:solidFill>
                </a:rPr>
                <a:t> [6], con y sin normalización, respectivamente. Los resultados se visualizaron mediante PCA [7], </a:t>
              </a:r>
              <a:r>
                <a:rPr lang="es-ES" i="1" dirty="0" err="1">
                  <a:solidFill>
                    <a:schemeClr val="tx1"/>
                  </a:solidFill>
                </a:rPr>
                <a:t>volcano</a:t>
              </a:r>
              <a:r>
                <a:rPr lang="es-ES" i="1" dirty="0">
                  <a:solidFill>
                    <a:schemeClr val="tx1"/>
                  </a:solidFill>
                </a:rPr>
                <a:t> </a:t>
              </a:r>
              <a:r>
                <a:rPr lang="es-ES" i="1" dirty="0" err="1">
                  <a:solidFill>
                    <a:schemeClr val="tx1"/>
                  </a:solidFill>
                </a:rPr>
                <a:t>plots</a:t>
              </a:r>
              <a:r>
                <a:rPr lang="es-ES" i="1" dirty="0">
                  <a:solidFill>
                    <a:schemeClr val="tx1"/>
                  </a:solidFill>
                </a:rPr>
                <a:t> [8] y </a:t>
              </a:r>
              <a:r>
                <a:rPr lang="es-ES" i="1" dirty="0" err="1">
                  <a:solidFill>
                    <a:schemeClr val="tx1"/>
                  </a:solidFill>
                </a:rPr>
                <a:t>heatmaps</a:t>
              </a:r>
              <a:r>
                <a:rPr lang="es-ES" i="1" dirty="0">
                  <a:solidFill>
                    <a:schemeClr val="tx1"/>
                  </a:solidFill>
                </a:rPr>
                <a:t> [9] en </a:t>
              </a:r>
              <a:r>
                <a:rPr lang="es-ES" i="1" dirty="0" err="1">
                  <a:solidFill>
                    <a:schemeClr val="tx1"/>
                  </a:solidFill>
                </a:rPr>
                <a:t>RStudio</a:t>
              </a:r>
              <a:r>
                <a:rPr lang="es-ES" i="1" dirty="0">
                  <a:solidFill>
                    <a:schemeClr val="tx1"/>
                  </a:solidFill>
                </a:rPr>
                <a:t>.</a:t>
              </a:r>
              <a:endParaRPr lang="es-ES_tradnl" sz="2400" i="1" dirty="0">
                <a:solidFill>
                  <a:schemeClr val="tx1"/>
                </a:solidFill>
              </a:endParaRPr>
            </a:p>
          </p:txBody>
        </p:sp>
        <p:sp>
          <p:nvSpPr>
            <p:cNvPr id="15" name="Rectángulo redondeado 14">
              <a:extLst>
                <a:ext uri="{FF2B5EF4-FFF2-40B4-BE49-F238E27FC236}">
                  <a16:creationId xmlns:a16="http://schemas.microsoft.com/office/drawing/2014/main" id="{51C45BDA-AC75-EE13-A211-698BB3CF2EDC}"/>
                </a:ext>
              </a:extLst>
            </p:cNvPr>
            <p:cNvSpPr/>
            <p:nvPr/>
          </p:nvSpPr>
          <p:spPr>
            <a:xfrm>
              <a:off x="500673" y="6246158"/>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METODOLOGÍA</a:t>
              </a:r>
            </a:p>
          </p:txBody>
        </p:sp>
      </p:grpSp>
      <p:grpSp>
        <p:nvGrpSpPr>
          <p:cNvPr id="9" name="Grupo 8">
            <a:extLst>
              <a:ext uri="{FF2B5EF4-FFF2-40B4-BE49-F238E27FC236}">
                <a16:creationId xmlns:a16="http://schemas.microsoft.com/office/drawing/2014/main" id="{0449220D-F047-A208-80A5-ECB282B1A62A}"/>
              </a:ext>
            </a:extLst>
          </p:cNvPr>
          <p:cNvGrpSpPr/>
          <p:nvPr/>
        </p:nvGrpSpPr>
        <p:grpSpPr>
          <a:xfrm>
            <a:off x="207596" y="7321757"/>
            <a:ext cx="14668990" cy="9782603"/>
            <a:chOff x="225180" y="8290675"/>
            <a:chExt cx="14668990" cy="9782603"/>
          </a:xfrm>
        </p:grpSpPr>
        <p:sp>
          <p:nvSpPr>
            <p:cNvPr id="16" name="Rectángulo redondeado 15">
              <a:extLst>
                <a:ext uri="{FF2B5EF4-FFF2-40B4-BE49-F238E27FC236}">
                  <a16:creationId xmlns:a16="http://schemas.microsoft.com/office/drawing/2014/main" id="{F757B5F2-E57A-7217-E1AA-4D7E21F42FA0}"/>
                </a:ext>
              </a:extLst>
            </p:cNvPr>
            <p:cNvSpPr/>
            <p:nvPr/>
          </p:nvSpPr>
          <p:spPr>
            <a:xfrm>
              <a:off x="225180" y="8607196"/>
              <a:ext cx="14668990" cy="9466082"/>
            </a:xfrm>
            <a:prstGeom prst="roundRect">
              <a:avLst>
                <a:gd name="adj" fmla="val 1988"/>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endParaRPr lang="es-ES_tradnl" sz="2400" i="1" dirty="0">
                <a:solidFill>
                  <a:schemeClr val="tx1"/>
                </a:solidFill>
              </a:endParaRPr>
            </a:p>
          </p:txBody>
        </p:sp>
        <p:sp>
          <p:nvSpPr>
            <p:cNvPr id="17" name="Rectángulo redondeado 16">
              <a:extLst>
                <a:ext uri="{FF2B5EF4-FFF2-40B4-BE49-F238E27FC236}">
                  <a16:creationId xmlns:a16="http://schemas.microsoft.com/office/drawing/2014/main" id="{D2CE81C2-DE7D-86C0-BE63-0B1C502B9BDA}"/>
                </a:ext>
              </a:extLst>
            </p:cNvPr>
            <p:cNvSpPr/>
            <p:nvPr/>
          </p:nvSpPr>
          <p:spPr>
            <a:xfrm>
              <a:off x="518258" y="8290675"/>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RESULTADOS</a:t>
              </a:r>
            </a:p>
          </p:txBody>
        </p:sp>
      </p:grpSp>
      <p:pic>
        <p:nvPicPr>
          <p:cNvPr id="1028" name="Picture 4">
            <a:extLst>
              <a:ext uri="{FF2B5EF4-FFF2-40B4-BE49-F238E27FC236}">
                <a16:creationId xmlns:a16="http://schemas.microsoft.com/office/drawing/2014/main" id="{D59CAA55-5763-DE38-517F-B4583DC84A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50767" y="-95516"/>
            <a:ext cx="2325820" cy="1400890"/>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upo 17">
            <a:extLst>
              <a:ext uri="{FF2B5EF4-FFF2-40B4-BE49-F238E27FC236}">
                <a16:creationId xmlns:a16="http://schemas.microsoft.com/office/drawing/2014/main" id="{7943CC5D-1654-184E-A7EC-A76F98FA9E8B}"/>
              </a:ext>
            </a:extLst>
          </p:cNvPr>
          <p:cNvGrpSpPr>
            <a:grpSpLocks noChangeAspect="1"/>
          </p:cNvGrpSpPr>
          <p:nvPr/>
        </p:nvGrpSpPr>
        <p:grpSpPr>
          <a:xfrm>
            <a:off x="0" y="-5895"/>
            <a:ext cx="3397496" cy="2303046"/>
            <a:chOff x="0" y="-5895"/>
            <a:chExt cx="4834200" cy="3276938"/>
          </a:xfrm>
        </p:grpSpPr>
        <p:pic>
          <p:nvPicPr>
            <p:cNvPr id="5" name="Imagen 4">
              <a:extLst>
                <a:ext uri="{FF2B5EF4-FFF2-40B4-BE49-F238E27FC236}">
                  <a16:creationId xmlns:a16="http://schemas.microsoft.com/office/drawing/2014/main" id="{7E5760BA-D4D0-7C9E-76ED-065ED11398EB}"/>
                </a:ext>
              </a:extLst>
            </p:cNvPr>
            <p:cNvPicPr>
              <a:picLocks noChangeAspect="1"/>
            </p:cNvPicPr>
            <p:nvPr/>
          </p:nvPicPr>
          <p:blipFill>
            <a:blip r:embed="rId4"/>
            <a:stretch>
              <a:fillRect/>
            </a:stretch>
          </p:blipFill>
          <p:spPr>
            <a:xfrm>
              <a:off x="0" y="-5895"/>
              <a:ext cx="4834200" cy="3276938"/>
            </a:xfrm>
            <a:prstGeom prst="rect">
              <a:avLst/>
            </a:prstGeom>
          </p:spPr>
        </p:pic>
        <p:sp>
          <p:nvSpPr>
            <p:cNvPr id="2" name="Rectángulo 1">
              <a:extLst>
                <a:ext uri="{FF2B5EF4-FFF2-40B4-BE49-F238E27FC236}">
                  <a16:creationId xmlns:a16="http://schemas.microsoft.com/office/drawing/2014/main" id="{4D86C97A-A2AB-20A7-3EB2-1F46C5416136}"/>
                </a:ext>
              </a:extLst>
            </p:cNvPr>
            <p:cNvSpPr/>
            <p:nvPr/>
          </p:nvSpPr>
          <p:spPr>
            <a:xfrm>
              <a:off x="964642" y="1549130"/>
              <a:ext cx="2257529" cy="6715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
        <p:nvSpPr>
          <p:cNvPr id="3" name="Rectángulo redondeado 2">
            <a:extLst>
              <a:ext uri="{FF2B5EF4-FFF2-40B4-BE49-F238E27FC236}">
                <a16:creationId xmlns:a16="http://schemas.microsoft.com/office/drawing/2014/main" id="{70138B42-E335-E05D-E193-37141538289E}"/>
              </a:ext>
            </a:extLst>
          </p:cNvPr>
          <p:cNvSpPr/>
          <p:nvPr/>
        </p:nvSpPr>
        <p:spPr>
          <a:xfrm>
            <a:off x="677955" y="1320342"/>
            <a:ext cx="13763441" cy="1981203"/>
          </a:xfrm>
          <a:prstGeom prst="roundRect">
            <a:avLst>
              <a:gd name="adj" fmla="val 9702"/>
            </a:avLst>
          </a:prstGeom>
          <a:solidFill>
            <a:srgbClr val="4196C9"/>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46800" rtlCol="0" anchor="ctr"/>
          <a:lstStyle/>
          <a:p>
            <a:pPr algn="ctr"/>
            <a:r>
              <a:rPr lang="es-ES_tradnl" sz="4000" b="1" dirty="0">
                <a:solidFill>
                  <a:schemeClr val="bg1"/>
                </a:solidFill>
              </a:rPr>
              <a:t>Análisis de expresión diferencial de genes relacionados con la obesidad mediante RNA-</a:t>
            </a:r>
            <a:r>
              <a:rPr lang="es-ES_tradnl" sz="4000" b="1" dirty="0" err="1">
                <a:solidFill>
                  <a:schemeClr val="bg1"/>
                </a:solidFill>
              </a:rPr>
              <a:t>seq</a:t>
            </a:r>
            <a:endParaRPr lang="es-ES_tradnl" sz="4000" b="1" dirty="0">
              <a:solidFill>
                <a:schemeClr val="bg1"/>
              </a:solidFill>
            </a:endParaRPr>
          </a:p>
          <a:p>
            <a:pPr algn="ctr">
              <a:lnSpc>
                <a:spcPct val="80000"/>
              </a:lnSpc>
            </a:pPr>
            <a:r>
              <a:rPr lang="es-ES_tradnl" sz="2800" b="1" i="1" dirty="0">
                <a:solidFill>
                  <a:schemeClr val="bg1"/>
                </a:solidFill>
              </a:rPr>
              <a:t>Secuenciación y ómicas de Próxima Generación</a:t>
            </a:r>
            <a:endParaRPr lang="es-ES_tradnl" sz="3600" b="1" i="1" dirty="0">
              <a:solidFill>
                <a:schemeClr val="bg1"/>
              </a:solidFill>
            </a:endParaRPr>
          </a:p>
          <a:p>
            <a:pPr algn="ctr">
              <a:lnSpc>
                <a:spcPct val="80000"/>
              </a:lnSpc>
            </a:pPr>
            <a:r>
              <a:rPr lang="es-ES_tradnl" b="1" i="1" dirty="0">
                <a:solidFill>
                  <a:schemeClr val="bg1"/>
                </a:solidFill>
              </a:rPr>
              <a:t>Lidia Conde Matos, Lucía Martínez Garrido, Marina </a:t>
            </a:r>
            <a:r>
              <a:rPr lang="es-ES_tradnl" b="1" i="1" dirty="0" err="1">
                <a:solidFill>
                  <a:schemeClr val="bg1"/>
                </a:solidFill>
              </a:rPr>
              <a:t>Monzo</a:t>
            </a:r>
            <a:r>
              <a:rPr lang="es-ES_tradnl" b="1" i="1" dirty="0">
                <a:solidFill>
                  <a:schemeClr val="bg1"/>
                </a:solidFill>
              </a:rPr>
              <a:t> Gallego, Maria Elena Martínez Garrido, Miguel Grande </a:t>
            </a:r>
            <a:r>
              <a:rPr lang="es-ES_tradnl" b="1" i="1" dirty="0" err="1">
                <a:solidFill>
                  <a:schemeClr val="bg1"/>
                </a:solidFill>
              </a:rPr>
              <a:t>Falceto</a:t>
            </a:r>
            <a:r>
              <a:rPr lang="es-ES_tradnl" b="1" i="1" dirty="0">
                <a:solidFill>
                  <a:schemeClr val="bg1"/>
                </a:solidFill>
              </a:rPr>
              <a:t>, Nuria Fernández Pérez, Paula Andrea Sánchez Álvarez</a:t>
            </a:r>
          </a:p>
        </p:txBody>
      </p:sp>
      <p:grpSp>
        <p:nvGrpSpPr>
          <p:cNvPr id="33" name="Grupo 32">
            <a:extLst>
              <a:ext uri="{FF2B5EF4-FFF2-40B4-BE49-F238E27FC236}">
                <a16:creationId xmlns:a16="http://schemas.microsoft.com/office/drawing/2014/main" id="{2C6C9477-586D-D4FB-ADEE-063D77B3A812}"/>
              </a:ext>
            </a:extLst>
          </p:cNvPr>
          <p:cNvGrpSpPr/>
          <p:nvPr/>
        </p:nvGrpSpPr>
        <p:grpSpPr>
          <a:xfrm>
            <a:off x="207596" y="17104358"/>
            <a:ext cx="9088804" cy="4212159"/>
            <a:chOff x="225181" y="17104358"/>
            <a:chExt cx="9088804" cy="4212159"/>
          </a:xfrm>
        </p:grpSpPr>
        <p:sp>
          <p:nvSpPr>
            <p:cNvPr id="34" name="Rectángulo redondeado 33">
              <a:extLst>
                <a:ext uri="{FF2B5EF4-FFF2-40B4-BE49-F238E27FC236}">
                  <a16:creationId xmlns:a16="http://schemas.microsoft.com/office/drawing/2014/main" id="{1B34C5B1-3A9B-391B-803D-711026F44639}"/>
                </a:ext>
              </a:extLst>
            </p:cNvPr>
            <p:cNvSpPr/>
            <p:nvPr/>
          </p:nvSpPr>
          <p:spPr>
            <a:xfrm>
              <a:off x="225181" y="17339913"/>
              <a:ext cx="9088804" cy="3976604"/>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 i="1" dirty="0">
                  <a:solidFill>
                    <a:schemeClr val="tx1"/>
                  </a:solidFill>
                </a:rPr>
                <a:t>El análisis de expresión diferencial entre individuos obesos y </a:t>
              </a:r>
              <a:r>
                <a:rPr lang="es-ES" i="1" dirty="0" err="1">
                  <a:solidFill>
                    <a:schemeClr val="tx1"/>
                  </a:solidFill>
                </a:rPr>
                <a:t>normopeso</a:t>
              </a:r>
              <a:r>
                <a:rPr lang="es-ES" i="1" dirty="0">
                  <a:solidFill>
                    <a:schemeClr val="tx1"/>
                  </a:solidFill>
                </a:rPr>
                <a:t> identificó a LEPR y NTRK2 como los únicos genes que mantuvieron su significación tras la normalización de los datos (Fig.3). La sobreexpresión de LEPR en el grupo obeso es coherente con la literatura, que describe alteraciones en la señalización del eje leptina–receptor asociadas a obesidad y resistencia a la leptina [10]. Por otro lado, la disminución de NTRK2, receptor del factor neurotrófico derivado del cerebro (BDNF), sugiere una posible alteración en las vías implicadas en el control del apetito y la homeostasis energética, ampliamente descritas en modelos metabólicos [11].</a:t>
              </a:r>
            </a:p>
            <a:p>
              <a:pPr algn="just">
                <a:lnSpc>
                  <a:spcPct val="80000"/>
                </a:lnSpc>
              </a:pPr>
              <a:endParaRPr lang="es-ES" i="1" dirty="0">
                <a:solidFill>
                  <a:schemeClr val="tx1"/>
                </a:solidFill>
              </a:endParaRPr>
            </a:p>
            <a:p>
              <a:pPr algn="just">
                <a:lnSpc>
                  <a:spcPct val="80000"/>
                </a:lnSpc>
              </a:pPr>
              <a:r>
                <a:rPr lang="es-ES" i="1" dirty="0">
                  <a:solidFill>
                    <a:schemeClr val="tx1"/>
                  </a:solidFill>
                </a:rPr>
                <a:t>De forma complementaria, el análisis exploratorio mediante PCA [6] muestra una tendencia a la separación entre individuos obesos y </a:t>
              </a:r>
              <a:r>
                <a:rPr lang="es-ES" i="1" dirty="0" err="1">
                  <a:solidFill>
                    <a:schemeClr val="tx1"/>
                  </a:solidFill>
                </a:rPr>
                <a:t>normopeso</a:t>
              </a:r>
              <a:r>
                <a:rPr lang="es-ES" i="1" dirty="0">
                  <a:solidFill>
                    <a:schemeClr val="tx1"/>
                  </a:solidFill>
                </a:rPr>
                <a:t> (Fig. 2), mientras que el </a:t>
              </a:r>
              <a:r>
                <a:rPr lang="es-ES" i="1" dirty="0" err="1">
                  <a:solidFill>
                    <a:schemeClr val="tx1"/>
                  </a:solidFill>
                </a:rPr>
                <a:t>heatmap</a:t>
              </a:r>
              <a:r>
                <a:rPr lang="es-ES" i="1" dirty="0">
                  <a:solidFill>
                    <a:schemeClr val="tx1"/>
                  </a:solidFill>
                </a:rPr>
                <a:t> de expresión génica normalizada evidenció de manera global los  patrones diferenciales de expresión entre grupos (Fig. 1).Además de LEPR y NTRK2, otros genes clásicamente asociados a obesidad, como LEP, MC4R, BDNF o PCSK1 [12], presentaron diferencias de expresión únicamente en el análisis sin normalización, perdiendo significación tras este paso. </a:t>
              </a:r>
            </a:p>
          </p:txBody>
        </p:sp>
        <p:sp>
          <p:nvSpPr>
            <p:cNvPr id="35" name="Rectángulo redondeado 34">
              <a:extLst>
                <a:ext uri="{FF2B5EF4-FFF2-40B4-BE49-F238E27FC236}">
                  <a16:creationId xmlns:a16="http://schemas.microsoft.com/office/drawing/2014/main" id="{3BC039B6-C9D2-02F3-8F27-C85043A7CC84}"/>
                </a:ext>
              </a:extLst>
            </p:cNvPr>
            <p:cNvSpPr/>
            <p:nvPr/>
          </p:nvSpPr>
          <p:spPr>
            <a:xfrm>
              <a:off x="491097" y="17104358"/>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DISCUSIÓN</a:t>
              </a:r>
            </a:p>
          </p:txBody>
        </p:sp>
      </p:grpSp>
      <p:grpSp>
        <p:nvGrpSpPr>
          <p:cNvPr id="36" name="Grupo 35">
            <a:extLst>
              <a:ext uri="{FF2B5EF4-FFF2-40B4-BE49-F238E27FC236}">
                <a16:creationId xmlns:a16="http://schemas.microsoft.com/office/drawing/2014/main" id="{7CDA7380-1384-C476-FC20-7A4A09E7B7FE}"/>
              </a:ext>
            </a:extLst>
          </p:cNvPr>
          <p:cNvGrpSpPr/>
          <p:nvPr/>
        </p:nvGrpSpPr>
        <p:grpSpPr>
          <a:xfrm>
            <a:off x="9377486" y="17142676"/>
            <a:ext cx="5698377" cy="4136237"/>
            <a:chOff x="7729741" y="17487453"/>
            <a:chExt cx="7221985" cy="3517132"/>
          </a:xfrm>
        </p:grpSpPr>
        <p:sp>
          <p:nvSpPr>
            <p:cNvPr id="37" name="Rectángulo redondeado 36">
              <a:extLst>
                <a:ext uri="{FF2B5EF4-FFF2-40B4-BE49-F238E27FC236}">
                  <a16:creationId xmlns:a16="http://schemas.microsoft.com/office/drawing/2014/main" id="{367F38DE-6476-4ED5-51AD-7070BD6A603F}"/>
                </a:ext>
              </a:extLst>
            </p:cNvPr>
            <p:cNvSpPr/>
            <p:nvPr/>
          </p:nvSpPr>
          <p:spPr>
            <a:xfrm>
              <a:off x="7729741" y="17623192"/>
              <a:ext cx="7221985" cy="3381393"/>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endParaRPr lang="es-ES" i="1" dirty="0">
                <a:solidFill>
                  <a:schemeClr val="tx1"/>
                </a:solidFill>
              </a:endParaRPr>
            </a:p>
            <a:p>
              <a:pPr algn="just">
                <a:lnSpc>
                  <a:spcPct val="80000"/>
                </a:lnSpc>
              </a:pPr>
              <a:r>
                <a:rPr lang="es-ES" i="1" dirty="0">
                  <a:solidFill>
                    <a:schemeClr val="tx1"/>
                  </a:solidFill>
                </a:rPr>
                <a:t>El análisis de RNA-</a:t>
              </a:r>
              <a:r>
                <a:rPr lang="es-ES" i="1" dirty="0" err="1">
                  <a:solidFill>
                    <a:schemeClr val="tx1"/>
                  </a:solidFill>
                </a:rPr>
                <a:t>seq</a:t>
              </a:r>
              <a:r>
                <a:rPr lang="es-ES" i="1" dirty="0">
                  <a:solidFill>
                    <a:schemeClr val="tx1"/>
                  </a:solidFill>
                </a:rPr>
                <a:t> permitió identificar genes diferencialmente expresados entre individuos obesos y </a:t>
              </a:r>
              <a:r>
                <a:rPr lang="es-ES" i="1" dirty="0" err="1">
                  <a:solidFill>
                    <a:schemeClr val="tx1"/>
                  </a:solidFill>
                </a:rPr>
                <a:t>normopeso</a:t>
              </a:r>
              <a:r>
                <a:rPr lang="es-ES" i="1" dirty="0">
                  <a:solidFill>
                    <a:schemeClr val="tx1"/>
                  </a:solidFill>
                </a:rPr>
                <a:t>, destacando LEPR y NTRK2 como los únicos genes que mantuvieron significativos tras la normalización. La comparación entre DESeq2 [5] y </a:t>
              </a:r>
              <a:r>
                <a:rPr lang="es-ES" i="1" dirty="0" err="1">
                  <a:solidFill>
                    <a:schemeClr val="tx1"/>
                  </a:solidFill>
                </a:rPr>
                <a:t>EdgeR</a:t>
              </a:r>
              <a:r>
                <a:rPr lang="es-ES" i="1" dirty="0">
                  <a:solidFill>
                    <a:schemeClr val="tx1"/>
                  </a:solidFill>
                </a:rPr>
                <a:t> [6] evidenció diferencias metodológicas en la detección de expresión diferencial, identificando </a:t>
              </a:r>
              <a:r>
                <a:rPr lang="es-ES" i="1" dirty="0" err="1">
                  <a:solidFill>
                    <a:schemeClr val="tx1"/>
                  </a:solidFill>
                </a:rPr>
                <a:t>EdgeR</a:t>
              </a:r>
              <a:r>
                <a:rPr lang="es-ES" i="1" dirty="0">
                  <a:solidFill>
                    <a:schemeClr val="tx1"/>
                  </a:solidFill>
                </a:rPr>
                <a:t> [6] un mayor número de genes cuando se aplicó sin una normalización previa externa.</a:t>
              </a:r>
            </a:p>
            <a:p>
              <a:pPr algn="just">
                <a:lnSpc>
                  <a:spcPct val="80000"/>
                </a:lnSpc>
              </a:pPr>
              <a:r>
                <a:rPr lang="es-ES" i="1" dirty="0">
                  <a:solidFill>
                    <a:schemeClr val="tx1"/>
                  </a:solidFill>
                </a:rPr>
                <a:t>No obstante, los resultados deben interpretarse con cautela debido al tamaño muestral reducido, el desconocimiento del tejido de origen y la posible influencia de variables </a:t>
              </a:r>
              <a:r>
                <a:rPr lang="es-ES" i="1" dirty="0" err="1">
                  <a:solidFill>
                    <a:schemeClr val="tx1"/>
                  </a:solidFill>
                </a:rPr>
                <a:t>confusoras</a:t>
              </a:r>
              <a:r>
                <a:rPr lang="es-ES" i="1" dirty="0">
                  <a:solidFill>
                    <a:schemeClr val="tx1"/>
                  </a:solidFill>
                </a:rPr>
                <a:t> como la edad y el sexo.</a:t>
              </a:r>
              <a:endParaRPr lang="es-ES_tradnl" sz="2400" i="1" dirty="0">
                <a:solidFill>
                  <a:schemeClr val="tx1"/>
                </a:solidFill>
              </a:endParaRPr>
            </a:p>
          </p:txBody>
        </p:sp>
        <p:sp>
          <p:nvSpPr>
            <p:cNvPr id="38" name="Rectángulo redondeado 37">
              <a:extLst>
                <a:ext uri="{FF2B5EF4-FFF2-40B4-BE49-F238E27FC236}">
                  <a16:creationId xmlns:a16="http://schemas.microsoft.com/office/drawing/2014/main" id="{0757AA33-190F-8E74-0CAC-D7C442BACE75}"/>
                </a:ext>
              </a:extLst>
            </p:cNvPr>
            <p:cNvSpPr/>
            <p:nvPr/>
          </p:nvSpPr>
          <p:spPr>
            <a:xfrm>
              <a:off x="8142316" y="17487453"/>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CONCLUSIONES</a:t>
              </a:r>
            </a:p>
          </p:txBody>
        </p:sp>
      </p:grpSp>
      <p:sp>
        <p:nvSpPr>
          <p:cNvPr id="40" name="Rectángulo redondeado 39">
            <a:extLst>
              <a:ext uri="{FF2B5EF4-FFF2-40B4-BE49-F238E27FC236}">
                <a16:creationId xmlns:a16="http://schemas.microsoft.com/office/drawing/2014/main" id="{3F03464F-6AD8-145A-F4F0-58880920BB73}"/>
              </a:ext>
            </a:extLst>
          </p:cNvPr>
          <p:cNvSpPr/>
          <p:nvPr/>
        </p:nvSpPr>
        <p:spPr>
          <a:xfrm>
            <a:off x="473512" y="8152750"/>
            <a:ext cx="6857118"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1. </a:t>
            </a:r>
            <a:r>
              <a:rPr kumimoji="0" lang="es-ES" sz="1800" i="0" u="none" strike="noStrike" kern="1200" cap="none" spc="0" normalizeH="0" baseline="0" noProof="0" dirty="0" err="1">
                <a:ln>
                  <a:noFill/>
                </a:ln>
                <a:solidFill>
                  <a:schemeClr val="tx1"/>
                </a:solidFill>
                <a:effectLst/>
                <a:uLnTx/>
                <a:uFillTx/>
                <a:latin typeface="Aptos" panose="02110004020202020204"/>
                <a:ea typeface="+mn-ea"/>
                <a:cs typeface="+mn-cs"/>
              </a:rPr>
              <a:t>Heatmap</a:t>
            </a:r>
            <a:r>
              <a:rPr kumimoji="0" lang="es-ES" sz="1800" i="0" u="none" strike="noStrike" kern="1200" cap="none" spc="0" normalizeH="0" baseline="0" noProof="0" dirty="0">
                <a:ln>
                  <a:noFill/>
                </a:ln>
                <a:solidFill>
                  <a:schemeClr val="tx1"/>
                </a:solidFill>
                <a:effectLst/>
                <a:uLnTx/>
                <a:uFillTx/>
                <a:latin typeface="Aptos" panose="02110004020202020204"/>
                <a:ea typeface="+mn-ea"/>
                <a:cs typeface="+mn-cs"/>
              </a:rPr>
              <a:t> de expresión génica normalizada mediante DESeq2 en individuos obesos y </a:t>
            </a:r>
            <a:r>
              <a:rPr kumimoji="0" lang="es-ES" sz="1800" i="0" u="none" strike="noStrike" kern="1200" cap="none" spc="0" normalizeH="0" baseline="0" noProof="0" dirty="0" err="1">
                <a:ln>
                  <a:noFill/>
                </a:ln>
                <a:solidFill>
                  <a:schemeClr val="tx1"/>
                </a:solidFill>
                <a:effectLst/>
                <a:uLnTx/>
                <a:uFillTx/>
                <a:latin typeface="Aptos" panose="02110004020202020204"/>
                <a:ea typeface="+mn-ea"/>
                <a:cs typeface="+mn-cs"/>
              </a:rPr>
              <a:t>normopeso</a:t>
            </a:r>
            <a:r>
              <a:rPr kumimoji="0" lang="es-ES" sz="1800" i="0" u="none" strike="noStrike" kern="1200" cap="none" spc="0" normalizeH="0" baseline="0" noProof="0" dirty="0">
                <a:ln>
                  <a:noFill/>
                </a:ln>
                <a:solidFill>
                  <a:schemeClr val="tx1"/>
                </a:solidFill>
                <a:effectLst/>
                <a:uLnTx/>
                <a:uFillTx/>
                <a:latin typeface="Aptos" panose="02110004020202020204"/>
                <a:ea typeface="+mn-ea"/>
                <a:cs typeface="+mn-cs"/>
              </a:rPr>
              <a:t>.</a:t>
            </a:r>
            <a:endPar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1" name="Rectángulo redondeado 40">
            <a:extLst>
              <a:ext uri="{FF2B5EF4-FFF2-40B4-BE49-F238E27FC236}">
                <a16:creationId xmlns:a16="http://schemas.microsoft.com/office/drawing/2014/main" id="{A5674FB9-8324-DF2F-A950-34B0495EFB78}"/>
              </a:ext>
            </a:extLst>
          </p:cNvPr>
          <p:cNvSpPr/>
          <p:nvPr/>
        </p:nvSpPr>
        <p:spPr>
          <a:xfrm>
            <a:off x="481644" y="12985853"/>
            <a:ext cx="13959752"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3. </a:t>
            </a:r>
            <a:r>
              <a:rPr kumimoji="0" lang="es-ES" sz="1800" b="0" i="0" u="none" strike="noStrike" kern="1200" cap="none" spc="0" normalizeH="0" baseline="0" noProof="0" dirty="0" err="1">
                <a:ln>
                  <a:noFill/>
                </a:ln>
                <a:solidFill>
                  <a:prstClr val="black"/>
                </a:solidFill>
                <a:effectLst/>
                <a:uLnTx/>
                <a:uFillTx/>
                <a:latin typeface="Aptos" panose="02110004020202020204"/>
                <a:ea typeface="+mn-ea"/>
                <a:cs typeface="+mn-cs"/>
              </a:rPr>
              <a:t>Volcano</a:t>
            </a:r>
            <a:r>
              <a:rPr kumimoji="0" lang="es-ES" sz="1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s-ES" sz="1800" b="0" i="0" u="none" strike="noStrike" kern="1200" cap="none" spc="0" normalizeH="0" baseline="0" noProof="0" dirty="0" err="1">
                <a:ln>
                  <a:noFill/>
                </a:ln>
                <a:solidFill>
                  <a:prstClr val="black"/>
                </a:solidFill>
                <a:effectLst/>
                <a:uLnTx/>
                <a:uFillTx/>
                <a:latin typeface="Aptos" panose="02110004020202020204"/>
                <a:ea typeface="+mn-ea"/>
                <a:cs typeface="+mn-cs"/>
              </a:rPr>
              <a:t>plots</a:t>
            </a:r>
            <a:r>
              <a:rPr kumimoji="0" lang="es-ES" sz="1800" b="0" i="0" u="none" strike="noStrike" kern="1200" cap="none" spc="0" normalizeH="0" baseline="0" noProof="0" dirty="0">
                <a:ln>
                  <a:noFill/>
                </a:ln>
                <a:solidFill>
                  <a:prstClr val="black"/>
                </a:solidFill>
                <a:effectLst/>
                <a:uLnTx/>
                <a:uFillTx/>
                <a:latin typeface="Aptos" panose="02110004020202020204"/>
                <a:ea typeface="+mn-ea"/>
                <a:cs typeface="+mn-cs"/>
              </a:rPr>
              <a:t> del análisis de expresión diferencial Obeso vs </a:t>
            </a:r>
            <a:r>
              <a:rPr kumimoji="0" lang="es-ES" sz="1800" b="0" i="0" u="none" strike="noStrike" kern="1200" cap="none" spc="0" normalizeH="0" baseline="0" noProof="0" dirty="0" err="1">
                <a:ln>
                  <a:noFill/>
                </a:ln>
                <a:solidFill>
                  <a:prstClr val="black"/>
                </a:solidFill>
                <a:effectLst/>
                <a:uLnTx/>
                <a:uFillTx/>
                <a:latin typeface="Aptos" panose="02110004020202020204"/>
                <a:ea typeface="+mn-ea"/>
                <a:cs typeface="+mn-cs"/>
              </a:rPr>
              <a:t>Normopeso</a:t>
            </a:r>
            <a:r>
              <a:rPr kumimoji="0" lang="es-ES" sz="1800" b="0" i="0" u="none" strike="noStrike" kern="1200" cap="none" spc="0" normalizeH="0" baseline="0" noProof="0" dirty="0">
                <a:ln>
                  <a:noFill/>
                </a:ln>
                <a:solidFill>
                  <a:prstClr val="black"/>
                </a:solidFill>
                <a:effectLst/>
                <a:uLnTx/>
                <a:uFillTx/>
                <a:latin typeface="Aptos" panose="02110004020202020204"/>
                <a:ea typeface="+mn-ea"/>
                <a:cs typeface="+mn-cs"/>
              </a:rPr>
              <a:t> mediante DESeq2 y </a:t>
            </a:r>
            <a:r>
              <a:rPr kumimoji="0" lang="es-ES" sz="1800" b="0" i="0" u="none" strike="noStrike" kern="1200" cap="none" spc="0" normalizeH="0" baseline="0" noProof="0" dirty="0" err="1">
                <a:ln>
                  <a:noFill/>
                </a:ln>
                <a:solidFill>
                  <a:prstClr val="black"/>
                </a:solidFill>
                <a:effectLst/>
                <a:uLnTx/>
                <a:uFillTx/>
                <a:latin typeface="Aptos" panose="02110004020202020204"/>
                <a:ea typeface="+mn-ea"/>
                <a:cs typeface="+mn-cs"/>
              </a:rPr>
              <a:t>EdgeR</a:t>
            </a:r>
            <a:r>
              <a:rPr kumimoji="0" lang="es-ES" sz="1800" b="0" i="0" u="none" strike="noStrike" kern="1200" cap="none" spc="0" normalizeH="0" baseline="0" noProof="0" dirty="0">
                <a:ln>
                  <a:noFill/>
                </a:ln>
                <a:solidFill>
                  <a:prstClr val="black"/>
                </a:solidFill>
                <a:effectLst/>
                <a:uLnTx/>
                <a:uFillTx/>
                <a:latin typeface="Aptos" panose="02110004020202020204"/>
                <a:ea typeface="+mn-ea"/>
                <a:cs typeface="+mn-cs"/>
              </a:rPr>
              <a:t>.</a:t>
            </a:r>
            <a:endPar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7" name="Rectángulo redondeado 38">
            <a:extLst>
              <a:ext uri="{FF2B5EF4-FFF2-40B4-BE49-F238E27FC236}">
                <a16:creationId xmlns:a16="http://schemas.microsoft.com/office/drawing/2014/main" id="{37A037D7-8596-4DC2-A24E-A4159734A36B}"/>
              </a:ext>
            </a:extLst>
          </p:cNvPr>
          <p:cNvSpPr/>
          <p:nvPr/>
        </p:nvSpPr>
        <p:spPr>
          <a:xfrm>
            <a:off x="7788721" y="8152750"/>
            <a:ext cx="6858000"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2.</a:t>
            </a:r>
            <a:r>
              <a:rPr kumimoji="0" lang="es-ES" sz="1800" b="1" i="0" u="none" strike="noStrike" kern="1200" cap="none" spc="0" normalizeH="0" baseline="0" noProof="0" dirty="0">
                <a:ln>
                  <a:noFill/>
                </a:ln>
                <a:solidFill>
                  <a:srgbClr val="4196C9"/>
                </a:solidFill>
                <a:effectLst/>
                <a:uLnTx/>
                <a:uFillTx/>
                <a:latin typeface="Aptos" panose="02110004020202020204"/>
                <a:ea typeface="+mn-ea"/>
                <a:cs typeface="+mn-cs"/>
              </a:rPr>
              <a:t> </a:t>
            </a:r>
            <a:r>
              <a:rPr kumimoji="0" lang="es-ES" sz="1800" i="0" u="none" strike="noStrike" kern="1200" cap="none" spc="0" normalizeH="0" baseline="0" noProof="0" dirty="0">
                <a:ln>
                  <a:noFill/>
                </a:ln>
                <a:solidFill>
                  <a:schemeClr val="tx1"/>
                </a:solidFill>
                <a:effectLst/>
                <a:uLnTx/>
                <a:uFillTx/>
                <a:latin typeface="Aptos" panose="02110004020202020204"/>
                <a:ea typeface="+mn-ea"/>
                <a:cs typeface="+mn-cs"/>
              </a:rPr>
              <a:t>Análisis de Componentes </a:t>
            </a:r>
            <a:r>
              <a:rPr lang="es-ES" dirty="0">
                <a:solidFill>
                  <a:schemeClr val="tx1"/>
                </a:solidFill>
                <a:latin typeface="Aptos" panose="02110004020202020204"/>
              </a:rPr>
              <a:t>P</a:t>
            </a:r>
            <a:r>
              <a:rPr kumimoji="0" lang="es-ES" sz="1800" i="0" u="none" strike="noStrike" kern="1200" cap="none" spc="0" normalizeH="0" baseline="0" noProof="0" dirty="0" err="1">
                <a:ln>
                  <a:noFill/>
                </a:ln>
                <a:solidFill>
                  <a:schemeClr val="tx1"/>
                </a:solidFill>
                <a:effectLst/>
                <a:uLnTx/>
                <a:uFillTx/>
                <a:latin typeface="Aptos" panose="02110004020202020204"/>
                <a:ea typeface="+mn-ea"/>
                <a:cs typeface="+mn-cs"/>
              </a:rPr>
              <a:t>rincipales</a:t>
            </a:r>
            <a:r>
              <a:rPr kumimoji="0" lang="es-ES" sz="1800" i="0" u="none" strike="noStrike" kern="1200" cap="none" spc="0" normalizeH="0" baseline="0" noProof="0" dirty="0">
                <a:ln>
                  <a:noFill/>
                </a:ln>
                <a:solidFill>
                  <a:schemeClr val="tx1"/>
                </a:solidFill>
                <a:effectLst/>
                <a:uLnTx/>
                <a:uFillTx/>
                <a:latin typeface="Aptos" panose="02110004020202020204"/>
                <a:ea typeface="+mn-ea"/>
                <a:cs typeface="+mn-cs"/>
              </a:rPr>
              <a:t> (PCA) basado en datos de expresión génica normalizados (DESeq2).</a:t>
            </a:r>
            <a:r>
              <a:rPr kumimoji="0" lang="es-ES_tradnl" sz="1800" i="0" u="none" strike="noStrike" kern="1200" cap="none" spc="0" normalizeH="0" baseline="0" noProof="0" dirty="0">
                <a:ln>
                  <a:noFill/>
                </a:ln>
                <a:solidFill>
                  <a:schemeClr val="tx1"/>
                </a:solidFill>
                <a:effectLst/>
                <a:uLnTx/>
                <a:uFillTx/>
                <a:latin typeface="Aptos" panose="02110004020202020204"/>
                <a:ea typeface="+mn-ea"/>
                <a:cs typeface="+mn-cs"/>
              </a:rPr>
              <a:t> </a:t>
            </a:r>
          </a:p>
        </p:txBody>
      </p:sp>
      <p:pic>
        <p:nvPicPr>
          <p:cNvPr id="11" name="Imagen 10">
            <a:extLst>
              <a:ext uri="{FF2B5EF4-FFF2-40B4-BE49-F238E27FC236}">
                <a16:creationId xmlns:a16="http://schemas.microsoft.com/office/drawing/2014/main" id="{46BF684D-72AC-4068-800F-DE8703CC0D62}"/>
              </a:ext>
            </a:extLst>
          </p:cNvPr>
          <p:cNvPicPr>
            <a:picLocks noChangeAspect="1"/>
          </p:cNvPicPr>
          <p:nvPr/>
        </p:nvPicPr>
        <p:blipFill rotWithShape="1">
          <a:blip r:embed="rId5"/>
          <a:srcRect t="-1" r="916" b="-105"/>
          <a:stretch/>
        </p:blipFill>
        <p:spPr>
          <a:xfrm>
            <a:off x="1496016" y="8842831"/>
            <a:ext cx="4860334" cy="4102246"/>
          </a:xfrm>
          <a:prstGeom prst="rect">
            <a:avLst/>
          </a:prstGeom>
        </p:spPr>
      </p:pic>
      <p:pic>
        <p:nvPicPr>
          <p:cNvPr id="10" name="Picture 4">
            <a:extLst>
              <a:ext uri="{FF2B5EF4-FFF2-40B4-BE49-F238E27FC236}">
                <a16:creationId xmlns:a16="http://schemas.microsoft.com/office/drawing/2014/main" id="{4BCC449C-4FF2-AC61-BF48-55661BA76DB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69667" y="8819241"/>
            <a:ext cx="5096108" cy="4108812"/>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B087D992-FC08-163C-9484-C60BFFD2BBE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56372" y="13858458"/>
            <a:ext cx="4310135" cy="3085078"/>
          </a:xfrm>
          <a:prstGeom prst="rect">
            <a:avLst/>
          </a:prstGeom>
          <a:noFill/>
          <a:extLst>
            <a:ext uri="{909E8E84-426E-40DD-AFC4-6F175D3DCCD1}">
              <a14:hiddenFill xmlns:a14="http://schemas.microsoft.com/office/drawing/2010/main">
                <a:solidFill>
                  <a:srgbClr val="FFFFFF"/>
                </a:solidFill>
              </a14:hiddenFill>
            </a:ext>
          </a:extLst>
        </p:spPr>
      </p:pic>
      <p:pic>
        <p:nvPicPr>
          <p:cNvPr id="13" name="Imagen 12" descr="Gráfico, Gráfico de líneas, Gráfico de dispersión&#10;&#10;El contenido generado por IA puede ser incorrecto.">
            <a:extLst>
              <a:ext uri="{FF2B5EF4-FFF2-40B4-BE49-F238E27FC236}">
                <a16:creationId xmlns:a16="http://schemas.microsoft.com/office/drawing/2014/main" id="{633E32AB-48A2-277C-D87C-47EA4A49B6CA}"/>
              </a:ext>
            </a:extLst>
          </p:cNvPr>
          <p:cNvPicPr>
            <a:picLocks noChangeAspect="1"/>
          </p:cNvPicPr>
          <p:nvPr/>
        </p:nvPicPr>
        <p:blipFill>
          <a:blip r:embed="rId8"/>
          <a:stretch>
            <a:fillRect/>
          </a:stretch>
        </p:blipFill>
        <p:spPr>
          <a:xfrm>
            <a:off x="769106" y="13822243"/>
            <a:ext cx="4349505" cy="3113258"/>
          </a:xfrm>
          <a:prstGeom prst="rect">
            <a:avLst/>
          </a:prstGeom>
        </p:spPr>
      </p:pic>
      <p:pic>
        <p:nvPicPr>
          <p:cNvPr id="22" name="Imagen 21" descr="Gráfico, Gráfico de dispersión&#10;&#10;El contenido generado por IA puede ser incorrecto.">
            <a:extLst>
              <a:ext uri="{FF2B5EF4-FFF2-40B4-BE49-F238E27FC236}">
                <a16:creationId xmlns:a16="http://schemas.microsoft.com/office/drawing/2014/main" id="{97508C1A-B093-3C41-F979-3159D251E369}"/>
              </a:ext>
            </a:extLst>
          </p:cNvPr>
          <p:cNvPicPr>
            <a:picLocks noChangeAspect="1"/>
          </p:cNvPicPr>
          <p:nvPr/>
        </p:nvPicPr>
        <p:blipFill>
          <a:blip r:embed="rId9"/>
          <a:stretch>
            <a:fillRect/>
          </a:stretch>
        </p:blipFill>
        <p:spPr>
          <a:xfrm>
            <a:off x="5249483" y="13822243"/>
            <a:ext cx="4178557" cy="3151376"/>
          </a:xfrm>
          <a:prstGeom prst="rect">
            <a:avLst/>
          </a:prstGeom>
        </p:spPr>
      </p:pic>
    </p:spTree>
    <p:extLst>
      <p:ext uri="{BB962C8B-B14F-4D97-AF65-F5344CB8AC3E}">
        <p14:creationId xmlns:p14="http://schemas.microsoft.com/office/powerpoint/2010/main" val="4045999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52000">
              <a:schemeClr val="accent1">
                <a:lumMod val="5000"/>
                <a:lumOff val="95000"/>
              </a:schemeClr>
            </a:gs>
            <a:gs pos="25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CEFDC0-925D-9509-8DE0-EFBFBFEAD2F8}"/>
              </a:ext>
            </a:extLst>
          </p:cNvPr>
          <p:cNvSpPr>
            <a:spLocks noGrp="1"/>
          </p:cNvSpPr>
          <p:nvPr>
            <p:ph type="title"/>
          </p:nvPr>
        </p:nvSpPr>
        <p:spPr>
          <a:xfrm>
            <a:off x="1039456" y="1138485"/>
            <a:ext cx="13040439" cy="1966665"/>
          </a:xfrm>
        </p:spPr>
        <p:txBody>
          <a:bodyPr/>
          <a:lstStyle/>
          <a:p>
            <a:r>
              <a:rPr lang="es-ES" b="1" dirty="0"/>
              <a:t>Bibliografía</a:t>
            </a:r>
          </a:p>
        </p:txBody>
      </p:sp>
      <p:sp>
        <p:nvSpPr>
          <p:cNvPr id="3" name="Marcador de contenido 2">
            <a:extLst>
              <a:ext uri="{FF2B5EF4-FFF2-40B4-BE49-F238E27FC236}">
                <a16:creationId xmlns:a16="http://schemas.microsoft.com/office/drawing/2014/main" id="{5840FC4B-8D87-ED7F-2DC2-0B86695D666B}"/>
              </a:ext>
            </a:extLst>
          </p:cNvPr>
          <p:cNvSpPr>
            <a:spLocks noGrp="1"/>
          </p:cNvSpPr>
          <p:nvPr>
            <p:ph idx="1"/>
          </p:nvPr>
        </p:nvSpPr>
        <p:spPr>
          <a:xfrm>
            <a:off x="1039455" y="3390900"/>
            <a:ext cx="13040439" cy="16554450"/>
          </a:xfrm>
        </p:spPr>
        <p:txBody>
          <a:bodyPr>
            <a:normAutofit fontScale="25000" lnSpcReduction="20000"/>
          </a:bodyPr>
          <a:lstStyle/>
          <a:p>
            <a:pPr marL="914400" lvl="0" indent="-914400">
              <a:lnSpc>
                <a:spcPct val="120000"/>
              </a:lnSpc>
              <a:buFont typeface="+mj-lt"/>
              <a:buAutoNum type="arabicPeriod"/>
            </a:pPr>
            <a:r>
              <a:rPr lang="es-ES" sz="9600" dirty="0"/>
              <a:t>Murray, C.J., </a:t>
            </a:r>
            <a:r>
              <a:rPr lang="es-ES" sz="9600" dirty="0" err="1"/>
              <a:t>Aravkin</a:t>
            </a:r>
            <a:r>
              <a:rPr lang="es-ES" sz="9600" dirty="0"/>
              <a:t>, A.Y., Zheng, P., </a:t>
            </a:r>
            <a:r>
              <a:rPr lang="es-ES" sz="9600" dirty="0" err="1"/>
              <a:t>Abbafati</a:t>
            </a:r>
            <a:r>
              <a:rPr lang="es-ES" sz="9600" dirty="0"/>
              <a:t>, C., Abbas, K.M., </a:t>
            </a:r>
            <a:r>
              <a:rPr lang="es-ES" sz="9600" dirty="0" err="1"/>
              <a:t>Abbasi-Kangevari</a:t>
            </a:r>
            <a:r>
              <a:rPr lang="es-ES" sz="9600" dirty="0"/>
              <a:t>, M., Abd-Allah, F., </a:t>
            </a:r>
            <a:r>
              <a:rPr lang="es-ES" sz="9600" dirty="0" err="1"/>
              <a:t>Abdelalim</a:t>
            </a:r>
            <a:r>
              <a:rPr lang="es-ES" sz="9600" dirty="0"/>
              <a:t>, A., </a:t>
            </a:r>
            <a:r>
              <a:rPr lang="es-ES" sz="9600" dirty="0" err="1"/>
              <a:t>Abdollahi</a:t>
            </a:r>
            <a:r>
              <a:rPr lang="es-ES" sz="9600" dirty="0"/>
              <a:t>, M., </a:t>
            </a:r>
            <a:r>
              <a:rPr lang="es-ES" sz="9600" dirty="0" err="1"/>
              <a:t>Abdollahpour</a:t>
            </a:r>
            <a:r>
              <a:rPr lang="es-ES" sz="9600" dirty="0"/>
              <a:t>, I. &amp; </a:t>
            </a:r>
            <a:r>
              <a:rPr lang="es-ES" sz="9600" dirty="0" err="1"/>
              <a:t>Abegaz</a:t>
            </a:r>
            <a:r>
              <a:rPr lang="es-ES" sz="9600" dirty="0"/>
              <a:t>, K.H., 2020. </a:t>
            </a:r>
            <a:r>
              <a:rPr lang="en-GB" sz="9600" dirty="0"/>
              <a:t>Global burden of 87 risk factors in 204 countries and territories, 1990–2019: a systematic analysis for the Global Burden of Disease Study 2019. </a:t>
            </a:r>
            <a:r>
              <a:rPr lang="en-GB" sz="9600" i="1" dirty="0"/>
              <a:t>The lancet</a:t>
            </a:r>
            <a:r>
              <a:rPr lang="en-GB" sz="9600" dirty="0"/>
              <a:t>, </a:t>
            </a:r>
            <a:r>
              <a:rPr lang="en-GB" sz="9600" i="1" dirty="0"/>
              <a:t>396</a:t>
            </a:r>
            <a:r>
              <a:rPr lang="en-GB" sz="9600" dirty="0"/>
              <a:t>(10258), 1223-1249.</a:t>
            </a:r>
            <a:endParaRPr lang="es-ES" sz="9600" dirty="0"/>
          </a:p>
          <a:p>
            <a:pPr marL="914400" lvl="0" indent="-914400">
              <a:lnSpc>
                <a:spcPct val="120000"/>
              </a:lnSpc>
              <a:buFont typeface="+mj-lt"/>
              <a:buAutoNum type="arabicPeriod"/>
            </a:pPr>
            <a:r>
              <a:rPr lang="en-GB" sz="9600" dirty="0" err="1"/>
              <a:t>Okunogbe</a:t>
            </a:r>
            <a:r>
              <a:rPr lang="en-GB" sz="9600" dirty="0"/>
              <a:t>, A., Nugent, R., Spencer, G., Powis, J., Ralston, J. &amp; Wilding, J., 2022. Economic impacts of overweight and obesity: current and future estimates for 161 countries. </a:t>
            </a:r>
            <a:r>
              <a:rPr lang="en-GB" sz="9600" i="1" dirty="0"/>
              <a:t>BMJ global health</a:t>
            </a:r>
            <a:r>
              <a:rPr lang="en-GB" sz="9600" dirty="0"/>
              <a:t>, </a:t>
            </a:r>
            <a:r>
              <a:rPr lang="en-GB" sz="9600" i="1" dirty="0"/>
              <a:t>7</a:t>
            </a:r>
            <a:r>
              <a:rPr lang="en-GB" sz="9600" dirty="0"/>
              <a:t>(9), p.009773.</a:t>
            </a:r>
            <a:endParaRPr lang="es-ES" sz="9600" dirty="0"/>
          </a:p>
          <a:p>
            <a:pPr marL="914400" lvl="0" indent="-914400">
              <a:lnSpc>
                <a:spcPct val="120000"/>
              </a:lnSpc>
              <a:buFont typeface="+mj-lt"/>
              <a:buAutoNum type="arabicPeriod"/>
            </a:pPr>
            <a:r>
              <a:rPr lang="en-GB" sz="9600" dirty="0"/>
              <a:t>Andrews, S. 2010. </a:t>
            </a:r>
            <a:r>
              <a:rPr lang="en-GB" sz="9600" dirty="0" err="1"/>
              <a:t>FastQC</a:t>
            </a:r>
            <a:r>
              <a:rPr lang="en-GB" sz="9600" dirty="0"/>
              <a:t>:  </a:t>
            </a:r>
            <a:r>
              <a:rPr lang="en-GB" sz="9600" i="1" dirty="0"/>
              <a:t>A Quality Control Tool for High Throughput Sequence Data.</a:t>
            </a:r>
            <a:r>
              <a:rPr lang="en-GB" sz="9600" dirty="0"/>
              <a:t> </a:t>
            </a:r>
            <a:r>
              <a:rPr lang="es-ES" sz="9600" dirty="0"/>
              <a:t>Disponible en: </a:t>
            </a:r>
            <a:r>
              <a:rPr lang="es-ES" sz="9600" u="sng" dirty="0">
                <a:hlinkClick r:id="rId2"/>
              </a:rPr>
              <a:t>http://www.bioinformatics.babraham.ac.uk/projects/fastqc/</a:t>
            </a:r>
            <a:r>
              <a:rPr lang="es-ES" sz="9600" dirty="0"/>
              <a:t> [fecha de acceso: diciembre 2025]</a:t>
            </a:r>
          </a:p>
          <a:p>
            <a:pPr marL="914400" lvl="0" indent="-914400">
              <a:lnSpc>
                <a:spcPct val="120000"/>
              </a:lnSpc>
              <a:buFont typeface="+mj-lt"/>
              <a:buAutoNum type="arabicPeriod"/>
            </a:pPr>
            <a:r>
              <a:rPr lang="es-ES" sz="9600" dirty="0"/>
              <a:t>Noda, M., Sato, S.A., </a:t>
            </a:r>
            <a:r>
              <a:rPr lang="es-ES" sz="9600" dirty="0" err="1"/>
              <a:t>Hirokawa</a:t>
            </a:r>
            <a:r>
              <a:rPr lang="es-ES" sz="9600" dirty="0"/>
              <a:t>, Y., </a:t>
            </a:r>
            <a:r>
              <a:rPr lang="es-ES" sz="9600" dirty="0" err="1"/>
              <a:t>Uemoto</a:t>
            </a:r>
            <a:r>
              <a:rPr lang="es-ES" sz="9600" dirty="0"/>
              <a:t>, M., Takeuchi, T., </a:t>
            </a:r>
            <a:r>
              <a:rPr lang="es-ES" sz="9600" dirty="0" err="1"/>
              <a:t>Yamada</a:t>
            </a:r>
            <a:r>
              <a:rPr lang="es-ES" sz="9600" dirty="0"/>
              <a:t>, S., </a:t>
            </a:r>
            <a:r>
              <a:rPr lang="es-ES" sz="9600" dirty="0" err="1"/>
              <a:t>Yamada</a:t>
            </a:r>
            <a:r>
              <a:rPr lang="es-ES" sz="9600" dirty="0"/>
              <a:t>, A., </a:t>
            </a:r>
            <a:r>
              <a:rPr lang="es-ES" sz="9600" dirty="0" err="1"/>
              <a:t>Shinohara</a:t>
            </a:r>
            <a:r>
              <a:rPr lang="es-ES" sz="9600" dirty="0"/>
              <a:t>, Y., Yamaguchi, M., </a:t>
            </a:r>
            <a:r>
              <a:rPr lang="es-ES" sz="9600" dirty="0" err="1"/>
              <a:t>Iida</a:t>
            </a:r>
            <a:r>
              <a:rPr lang="es-ES" sz="9600" dirty="0"/>
              <a:t>, K. &amp; </a:t>
            </a:r>
            <a:r>
              <a:rPr lang="es-ES" sz="9600" dirty="0" err="1"/>
              <a:t>Floss</a:t>
            </a:r>
            <a:r>
              <a:rPr lang="es-ES" sz="9600" dirty="0"/>
              <a:t>, I., 2019. </a:t>
            </a:r>
            <a:r>
              <a:rPr lang="en-GB" sz="9600" dirty="0"/>
              <a:t>SALMON: Scalable ab-initio light–matter simulator for optics and nanoscience. </a:t>
            </a:r>
            <a:r>
              <a:rPr lang="en-GB" sz="9600" i="1" dirty="0"/>
              <a:t>Computer Physics Communications</a:t>
            </a:r>
            <a:r>
              <a:rPr lang="en-GB" sz="9600" dirty="0"/>
              <a:t>, </a:t>
            </a:r>
            <a:r>
              <a:rPr lang="en-GB" sz="9600" i="1" dirty="0"/>
              <a:t>235</a:t>
            </a:r>
            <a:r>
              <a:rPr lang="en-GB" sz="9600" dirty="0"/>
              <a:t>,356-365.</a:t>
            </a:r>
            <a:endParaRPr lang="es-ES" sz="9600" dirty="0"/>
          </a:p>
          <a:p>
            <a:pPr marL="914400" lvl="0" indent="-914400">
              <a:lnSpc>
                <a:spcPct val="120000"/>
              </a:lnSpc>
              <a:buFont typeface="+mj-lt"/>
              <a:buAutoNum type="arabicPeriod"/>
            </a:pPr>
            <a:r>
              <a:rPr lang="en-GB" sz="9600" dirty="0"/>
              <a:t>Love, M.I., Huber, W. &amp; Anders, S., 2014. Moderated estimation of fold change and dispersion for RNA-</a:t>
            </a:r>
            <a:r>
              <a:rPr lang="en-GB" sz="9600" dirty="0" err="1"/>
              <a:t>seq</a:t>
            </a:r>
            <a:r>
              <a:rPr lang="en-GB" sz="9600" dirty="0"/>
              <a:t> data with DESeq2. </a:t>
            </a:r>
            <a:r>
              <a:rPr lang="en-GB" sz="9600" i="1" dirty="0"/>
              <a:t>Genome biology</a:t>
            </a:r>
            <a:r>
              <a:rPr lang="en-GB" sz="9600" dirty="0"/>
              <a:t>, </a:t>
            </a:r>
            <a:r>
              <a:rPr lang="en-GB" sz="9600" i="1" dirty="0"/>
              <a:t>15</a:t>
            </a:r>
            <a:r>
              <a:rPr lang="en-GB" sz="9600" dirty="0"/>
              <a:t>(12), 550.</a:t>
            </a:r>
            <a:endParaRPr lang="es-ES" sz="9600" dirty="0"/>
          </a:p>
          <a:p>
            <a:pPr marL="914400" lvl="0" indent="-914400">
              <a:lnSpc>
                <a:spcPct val="120000"/>
              </a:lnSpc>
              <a:buFont typeface="+mj-lt"/>
              <a:buAutoNum type="arabicPeriod"/>
            </a:pPr>
            <a:r>
              <a:rPr lang="en-GB" sz="9600" dirty="0"/>
              <a:t>Chen, Y., Chen, L., Lun, A.T., Baldoni, P.L. &amp; Smyth, G.K., 2025. </a:t>
            </a:r>
            <a:r>
              <a:rPr lang="en-GB" sz="9600" dirty="0" err="1"/>
              <a:t>edgeR</a:t>
            </a:r>
            <a:r>
              <a:rPr lang="en-GB" sz="9600" dirty="0"/>
              <a:t> v4: powerful differential analysis of sequencing data with expanded functionality and improved support for small counts and larger datasets. </a:t>
            </a:r>
            <a:r>
              <a:rPr lang="en-GB" sz="9600" i="1" dirty="0"/>
              <a:t>Nucleic Acids Research</a:t>
            </a:r>
            <a:r>
              <a:rPr lang="en-GB" sz="9600" dirty="0"/>
              <a:t>, </a:t>
            </a:r>
            <a:r>
              <a:rPr lang="en-GB" sz="9600" i="1" dirty="0"/>
              <a:t>53</a:t>
            </a:r>
            <a:r>
              <a:rPr lang="en-GB" sz="9600" dirty="0"/>
              <a:t>(2), 018.</a:t>
            </a:r>
            <a:endParaRPr lang="es-ES" sz="9600" dirty="0"/>
          </a:p>
          <a:p>
            <a:pPr marL="914400" lvl="0" indent="-914400">
              <a:lnSpc>
                <a:spcPct val="120000"/>
              </a:lnSpc>
              <a:buFont typeface="+mj-lt"/>
              <a:buAutoNum type="arabicPeriod"/>
            </a:pPr>
            <a:r>
              <a:rPr lang="es-ES" sz="9600" dirty="0"/>
              <a:t>Faria, J.C., </a:t>
            </a:r>
            <a:r>
              <a:rPr lang="es-ES" sz="9600" dirty="0" err="1"/>
              <a:t>Demétrio</a:t>
            </a:r>
            <a:r>
              <a:rPr lang="es-ES" sz="9600" dirty="0"/>
              <a:t>, C.G.B. &amp; </a:t>
            </a:r>
            <a:r>
              <a:rPr lang="es-ES" sz="9600" dirty="0" err="1"/>
              <a:t>Allaman</a:t>
            </a:r>
            <a:r>
              <a:rPr lang="es-ES" sz="9600" dirty="0"/>
              <a:t>, I.B., 2013. </a:t>
            </a:r>
            <a:r>
              <a:rPr lang="en-GB" sz="9600" i="1" dirty="0"/>
              <a:t>Biplot of multivariate data based on principal components analysis</a:t>
            </a:r>
            <a:r>
              <a:rPr lang="en-GB" sz="9600" dirty="0"/>
              <a:t>.</a:t>
            </a:r>
            <a:endParaRPr lang="es-ES" sz="9600" dirty="0"/>
          </a:p>
          <a:p>
            <a:pPr marL="914400" lvl="0" indent="-914400">
              <a:lnSpc>
                <a:spcPct val="120000"/>
              </a:lnSpc>
              <a:buFont typeface="+mj-lt"/>
              <a:buAutoNum type="arabicPeriod"/>
            </a:pPr>
            <a:r>
              <a:rPr lang="en-GB" sz="9600" dirty="0" err="1"/>
              <a:t>Blighe</a:t>
            </a:r>
            <a:r>
              <a:rPr lang="en-GB" sz="9600" dirty="0"/>
              <a:t> K, Rana S, &amp; Lewis M. 2025. </a:t>
            </a:r>
            <a:r>
              <a:rPr lang="en-GB" sz="9600" dirty="0" err="1"/>
              <a:t>EnhancedVolcano</a:t>
            </a:r>
            <a:r>
              <a:rPr lang="en-GB" sz="9600" dirty="0"/>
              <a:t>:</a:t>
            </a:r>
            <a:r>
              <a:rPr lang="en-GB" sz="9600" i="1" dirty="0"/>
              <a:t> Publication-ready volcano plots with enhanced colouring and </a:t>
            </a:r>
            <a:r>
              <a:rPr lang="en-GB" sz="9600" i="1" dirty="0" err="1"/>
              <a:t>labeling</a:t>
            </a:r>
            <a:r>
              <a:rPr lang="en-GB" sz="9600" dirty="0"/>
              <a:t>.</a:t>
            </a:r>
            <a:endParaRPr lang="es-ES" sz="9600" dirty="0"/>
          </a:p>
          <a:p>
            <a:pPr marL="914400" lvl="0" indent="-914400">
              <a:lnSpc>
                <a:spcPct val="120000"/>
              </a:lnSpc>
              <a:buFont typeface="+mj-lt"/>
              <a:buAutoNum type="arabicPeriod"/>
            </a:pPr>
            <a:r>
              <a:rPr lang="en-GB" sz="9600" dirty="0"/>
              <a:t>Kolde, R. &amp; Kolde, M.R., 2015. Package ‘</a:t>
            </a:r>
            <a:r>
              <a:rPr lang="en-GB" sz="9600" dirty="0" err="1"/>
              <a:t>pheatmap</a:t>
            </a:r>
            <a:r>
              <a:rPr lang="en-GB" sz="9600" dirty="0"/>
              <a:t>’. </a:t>
            </a:r>
            <a:r>
              <a:rPr lang="en-GB" sz="9600" i="1" dirty="0"/>
              <a:t>R package</a:t>
            </a:r>
            <a:r>
              <a:rPr lang="en-GB" sz="9600" dirty="0"/>
              <a:t>, </a:t>
            </a:r>
            <a:r>
              <a:rPr lang="en-GB" sz="9600" i="1" dirty="0"/>
              <a:t>1</a:t>
            </a:r>
            <a:r>
              <a:rPr lang="en-GB" sz="9600" dirty="0"/>
              <a:t>(7), 790.</a:t>
            </a:r>
            <a:endParaRPr lang="es-ES" sz="9600" dirty="0"/>
          </a:p>
          <a:p>
            <a:pPr marL="914400" lvl="0" indent="-914400">
              <a:lnSpc>
                <a:spcPct val="120000"/>
              </a:lnSpc>
              <a:buFont typeface="+mj-lt"/>
              <a:buAutoNum type="arabicPeriod"/>
            </a:pPr>
            <a:r>
              <a:rPr lang="en-GB" sz="9600" dirty="0"/>
              <a:t>Durak, S., </a:t>
            </a:r>
            <a:r>
              <a:rPr lang="en-GB" sz="9600" dirty="0" err="1"/>
              <a:t>Aksoyer</a:t>
            </a:r>
            <a:r>
              <a:rPr lang="en-GB" sz="9600" dirty="0"/>
              <a:t> Sezgin, S.B., Celik, F., </a:t>
            </a:r>
            <a:r>
              <a:rPr lang="en-GB" sz="9600" dirty="0" err="1"/>
              <a:t>Diramali</a:t>
            </a:r>
            <a:r>
              <a:rPr lang="en-GB" sz="9600" dirty="0"/>
              <a:t>, M., </a:t>
            </a:r>
            <a:r>
              <a:rPr lang="en-GB" sz="9600" dirty="0" err="1"/>
              <a:t>Yaylim</a:t>
            </a:r>
            <a:r>
              <a:rPr lang="en-GB" sz="9600" dirty="0"/>
              <a:t>, I., Gurol, A.O., Cakmak, R. &amp; Zeybek, U., 2025. The Investigation of Leptin (LEP) and Leptin Receptor (LEPR) Gene Variations in Obese Patients. </a:t>
            </a:r>
            <a:r>
              <a:rPr lang="en-GB" sz="9600" i="1" dirty="0"/>
              <a:t>Clinical &amp; Translational Metabolism</a:t>
            </a:r>
            <a:r>
              <a:rPr lang="en-GB" sz="9600" dirty="0"/>
              <a:t>, </a:t>
            </a:r>
            <a:r>
              <a:rPr lang="en-GB" sz="9600" i="1" dirty="0"/>
              <a:t>23</a:t>
            </a:r>
            <a:r>
              <a:rPr lang="en-GB" sz="9600" dirty="0"/>
              <a:t>(1), 6.</a:t>
            </a:r>
            <a:endParaRPr lang="es-ES" sz="9600" dirty="0"/>
          </a:p>
          <a:p>
            <a:pPr marL="914400" lvl="0" indent="-914400">
              <a:lnSpc>
                <a:spcPct val="120000"/>
              </a:lnSpc>
              <a:buFont typeface="+mj-lt"/>
              <a:buAutoNum type="arabicPeriod"/>
            </a:pPr>
            <a:r>
              <a:rPr lang="en-GB" sz="9600" dirty="0"/>
              <a:t>Pandit, M., Behl, T., Sachdeva, M. &amp; Arora, S., 2020. Role of brain derived neurotropic factor in obesity. </a:t>
            </a:r>
            <a:r>
              <a:rPr lang="en-GB" sz="9600" i="1" dirty="0"/>
              <a:t>Obesity Medicine</a:t>
            </a:r>
            <a:r>
              <a:rPr lang="en-GB" sz="9600" dirty="0"/>
              <a:t>, </a:t>
            </a:r>
            <a:r>
              <a:rPr lang="en-GB" sz="9600" i="1" dirty="0"/>
              <a:t>17</a:t>
            </a:r>
            <a:r>
              <a:rPr lang="en-GB" sz="9600" dirty="0"/>
              <a:t>, 100189.</a:t>
            </a:r>
            <a:endParaRPr lang="es-ES" sz="9600" dirty="0"/>
          </a:p>
          <a:p>
            <a:pPr marL="914400" lvl="0" indent="-914400">
              <a:lnSpc>
                <a:spcPct val="120000"/>
              </a:lnSpc>
              <a:buFont typeface="+mj-lt"/>
              <a:buAutoNum type="arabicPeriod"/>
            </a:pPr>
            <a:r>
              <a:rPr lang="es-ES" sz="9600" dirty="0"/>
              <a:t>Loos, R.J. &amp; </a:t>
            </a:r>
            <a:r>
              <a:rPr lang="es-ES" sz="9600" dirty="0" err="1"/>
              <a:t>Yeo</a:t>
            </a:r>
            <a:r>
              <a:rPr lang="es-ES" sz="9600" dirty="0"/>
              <a:t>, G.S., 2022. </a:t>
            </a:r>
            <a:r>
              <a:rPr lang="en-GB" sz="9600" dirty="0"/>
              <a:t>The genetics of obesity: from discovery to biology. </a:t>
            </a:r>
            <a:r>
              <a:rPr lang="en-GB" sz="9600" i="1" dirty="0"/>
              <a:t>Nature Reviews Genetics</a:t>
            </a:r>
            <a:r>
              <a:rPr lang="en-GB" sz="9600" dirty="0"/>
              <a:t>, </a:t>
            </a:r>
            <a:r>
              <a:rPr lang="en-GB" sz="9600" i="1" dirty="0"/>
              <a:t>23</a:t>
            </a:r>
            <a:r>
              <a:rPr lang="en-GB" sz="9600" dirty="0"/>
              <a:t>(2), 120-133.</a:t>
            </a:r>
          </a:p>
          <a:p>
            <a:pPr marL="914400" lvl="0" indent="-914400">
              <a:buFont typeface="+mj-lt"/>
              <a:buAutoNum type="arabicPeriod"/>
            </a:pPr>
            <a:endParaRPr lang="es-ES" dirty="0"/>
          </a:p>
          <a:p>
            <a:pPr marL="755980" lvl="1" indent="0">
              <a:buNone/>
            </a:pPr>
            <a:r>
              <a:rPr lang="es-ES" sz="9600" dirty="0"/>
              <a:t>Otras librerías utilizadas para los gráficos:</a:t>
            </a:r>
          </a:p>
          <a:p>
            <a:pPr marL="755980" lvl="1" indent="0">
              <a:buNone/>
            </a:pPr>
            <a:endParaRPr lang="es-ES" sz="9600" dirty="0"/>
          </a:p>
          <a:p>
            <a:pPr marL="755980" lvl="1" indent="0">
              <a:buNone/>
            </a:pPr>
            <a:r>
              <a:rPr lang="en-GB" sz="9600" dirty="0"/>
              <a:t>Soneson, C., Love, M. I. &amp; Robinson, M. D. (2015). Differential analyses for RNA-</a:t>
            </a:r>
            <a:r>
              <a:rPr lang="en-GB" sz="9600" dirty="0" err="1"/>
              <a:t>seq</a:t>
            </a:r>
            <a:r>
              <a:rPr lang="en-GB" sz="9600" dirty="0"/>
              <a:t>: transcript-level estimates improve gene-level inferences. F1000Research, 4, 1521.</a:t>
            </a:r>
          </a:p>
          <a:p>
            <a:pPr marL="755980" lvl="1" indent="0">
              <a:buNone/>
            </a:pPr>
            <a:endParaRPr lang="es-ES" sz="9600" dirty="0"/>
          </a:p>
          <a:p>
            <a:pPr marL="755980" lvl="1" indent="0">
              <a:buNone/>
            </a:pPr>
            <a:r>
              <a:rPr lang="en-GB" sz="9600" dirty="0"/>
              <a:t>Wickham, H., 2016. Data analysis. In ggplot2: elegant graphics for data analysis. Cham: Springer international publishing; 189-201.</a:t>
            </a:r>
            <a:endParaRPr lang="es-ES" sz="9600" dirty="0"/>
          </a:p>
          <a:p>
            <a:pPr marL="755980" lvl="1" indent="0">
              <a:buNone/>
            </a:pPr>
            <a:r>
              <a:rPr lang="en-GB" sz="9600" dirty="0"/>
              <a:t> </a:t>
            </a:r>
            <a:endParaRPr lang="es-ES" sz="9600" dirty="0"/>
          </a:p>
          <a:p>
            <a:endParaRPr lang="es-ES" dirty="0"/>
          </a:p>
        </p:txBody>
      </p:sp>
    </p:spTree>
    <p:extLst>
      <p:ext uri="{BB962C8B-B14F-4D97-AF65-F5344CB8AC3E}">
        <p14:creationId xmlns:p14="http://schemas.microsoft.com/office/powerpoint/2010/main" val="712684240"/>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ma d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DF3D7C797EA12745A270EF30E38719B9" ma:contentTypeVersion="20" ma:contentTypeDescription="Crear nuevo documento." ma:contentTypeScope="" ma:versionID="98b23ce13f8ef13134c980882a27b8cc">
  <xsd:schema xmlns:xsd="http://www.w3.org/2001/XMLSchema" xmlns:xs="http://www.w3.org/2001/XMLSchema" xmlns:p="http://schemas.microsoft.com/office/2006/metadata/properties" xmlns:ns2="0a70e875-3d35-4be2-921f-7117c31bab9b" xmlns:ns3="27c1adeb-3674-457c-b08c-8a73f31b6e23" targetNamespace="http://schemas.microsoft.com/office/2006/metadata/properties" ma:root="true" ma:fieldsID="83d50475b18a8f95f7f8edf1c6caa3f2" ns2:_="" ns3:_="">
    <xsd:import namespace="0a70e875-3d35-4be2-921f-7117c31bab9b"/>
    <xsd:import namespace="27c1adeb-3674-457c-b08c-8a73f31b6e23"/>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lcf76f155ced4ddcb4097134ff3c332f" minOccurs="0"/>
                <xsd:element ref="ns2:TaxCatchAll" minOccurs="0"/>
                <xsd:element ref="ns3:MediaServiceSearchProperties" minOccurs="0"/>
                <xsd:element ref="ns3:_Flow_SignoffStatus" minOccurs="0"/>
                <xsd:element ref="ns3:MediaServiceObjectDetectorVersion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70e875-3d35-4be2-921f-7117c31bab9b"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TaxCatchAll" ma:index="23" nillable="true" ma:displayName="Taxonomy Catch All Column" ma:hidden="true" ma:list="{c7f67346-78c9-4c4d-b954-8d350fdf60db}" ma:internalName="TaxCatchAll" ma:showField="CatchAllData" ma:web="0a70e875-3d35-4be2-921f-7117c31bab9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27c1adeb-3674-457c-b08c-8a73f31b6e23"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Etiquetas de imagen" ma:readOnly="false" ma:fieldId="{5cf76f15-5ced-4ddc-b409-7134ff3c332f}" ma:taxonomyMulti="true" ma:sspId="17631b59-e624-4eb7-963c-219f14f887a3"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_Flow_SignoffStatus" ma:index="25" nillable="true" ma:displayName="Estado de aprobación" ma:internalName="Estado_x0020_de_x0020_aprobaci_x00f3_n">
      <xsd:simpleType>
        <xsd:restriction base="dms:Text"/>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Flow_SignoffStatus xmlns="27c1adeb-3674-457c-b08c-8a73f31b6e23" xsi:nil="true"/>
    <lcf76f155ced4ddcb4097134ff3c332f xmlns="27c1adeb-3674-457c-b08c-8a73f31b6e23">
      <Terms xmlns="http://schemas.microsoft.com/office/infopath/2007/PartnerControls"/>
    </lcf76f155ced4ddcb4097134ff3c332f>
    <TaxCatchAll xmlns="0a70e875-3d35-4be2-921f-7117c31bab9b" xsi:nil="true"/>
  </documentManagement>
</p:properties>
</file>

<file path=customXml/itemProps1.xml><?xml version="1.0" encoding="utf-8"?>
<ds:datastoreItem xmlns:ds="http://schemas.openxmlformats.org/officeDocument/2006/customXml" ds:itemID="{53E95016-93A9-4903-BA02-7A05B5939C79}">
  <ds:schemaRefs>
    <ds:schemaRef ds:uri="http://schemas.microsoft.com/sharepoint/v3/contenttype/forms"/>
  </ds:schemaRefs>
</ds:datastoreItem>
</file>

<file path=customXml/itemProps2.xml><?xml version="1.0" encoding="utf-8"?>
<ds:datastoreItem xmlns:ds="http://schemas.openxmlformats.org/officeDocument/2006/customXml" ds:itemID="{EA933766-0056-42DC-9416-E7C06BCFC0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a70e875-3d35-4be2-921f-7117c31bab9b"/>
    <ds:schemaRef ds:uri="27c1adeb-3674-457c-b08c-8a73f31b6e2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48B5577-5CCE-4E9D-BDFA-952900719EE2}">
  <ds:schemaRefs>
    <ds:schemaRef ds:uri="http://schemas.microsoft.com/office/2006/metadata/properties"/>
    <ds:schemaRef ds:uri="http://schemas.microsoft.com/office/infopath/2007/PartnerControls"/>
    <ds:schemaRef ds:uri="27c1adeb-3674-457c-b08c-8a73f31b6e23"/>
    <ds:schemaRef ds:uri="0a70e875-3d35-4be2-921f-7117c31bab9b"/>
  </ds:schemaRefs>
</ds:datastoreItem>
</file>

<file path=docMetadata/LabelInfo.xml><?xml version="1.0" encoding="utf-8"?>
<clbl:labelList xmlns:clbl="http://schemas.microsoft.com/office/2020/mipLabelMetadata">
  <clbl:label id="{0361ecad-3f61-4749-aa5c-87fde47ef9ad}" enabled="1" method="Privileged" siteId="{22c8b4a4-d926-43b2-bcc7-87b998590b47}" contentBits="0" removed="0"/>
</clbl:labelList>
</file>

<file path=docProps/app.xml><?xml version="1.0" encoding="utf-8"?>
<Properties xmlns="http://schemas.openxmlformats.org/officeDocument/2006/extended-properties" xmlns:vt="http://schemas.openxmlformats.org/officeDocument/2006/docPropsVTypes">
  <Template>Slice</Template>
  <TotalTime>521</TotalTime>
  <Words>1248</Words>
  <Application>Microsoft Office PowerPoint</Application>
  <PresentationFormat>Personalizado</PresentationFormat>
  <Paragraphs>41</Paragraphs>
  <Slides>2</Slides>
  <Notes>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vt:i4>
      </vt:variant>
    </vt:vector>
  </HeadingPairs>
  <TitlesOfParts>
    <vt:vector size="6" baseType="lpstr">
      <vt:lpstr>Aptos</vt:lpstr>
      <vt:lpstr>Aptos Display</vt:lpstr>
      <vt:lpstr>Arial</vt:lpstr>
      <vt:lpstr>Tema de Office</vt:lpstr>
      <vt:lpstr>Presentación de PowerPoint</vt:lpstr>
      <vt:lpstr>Bibliografía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Victor  de la O Pascual</dc:creator>
  <cp:lastModifiedBy>Carlos Andres Gómez Álvarez</cp:lastModifiedBy>
  <cp:revision>43</cp:revision>
  <dcterms:created xsi:type="dcterms:W3CDTF">2025-04-21T10:03:24Z</dcterms:created>
  <dcterms:modified xsi:type="dcterms:W3CDTF">2025-12-21T18:31:24Z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0x010100DF3D7C797EA12745A270EF30E38719B9</vt:lpwstr>
  </property>
  <property fmtid="{D5CDD505-2E9C-101B-9397-08002B2CF9AE}" pid="3" name="MediaServiceImageTags">
    <vt:lpwstr/>
  </property>
</Properties>
</file>