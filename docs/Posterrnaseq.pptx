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sldIdLst>
    <p:sldId id="258" r:id="rId5"/>
  </p:sldIdLst>
  <p:sldSz cx="15119350" cy="2138362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196C9"/>
    <a:srgbClr val="59C2E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911"/>
    <p:restoredTop sz="94703"/>
  </p:normalViewPr>
  <p:slideViewPr>
    <p:cSldViewPr snapToGrid="0">
      <p:cViewPr varScale="1">
        <p:scale>
          <a:sx n="26" d="100"/>
          <a:sy n="26" d="100"/>
        </p:scale>
        <p:origin x="2995"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5" Type="http://schemas.openxmlformats.org/officeDocument/2006/relationships/slide" Target="slides/slide1.xml"/><Relationship Id="rId4" Type="http://schemas.openxmlformats.org/officeDocument/2006/relationships/slideMaster" Target="slideMasters/slideMaster1.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133951" y="3499590"/>
            <a:ext cx="12851448" cy="7444669"/>
          </a:xfrm>
        </p:spPr>
        <p:txBody>
          <a:bodyPr anchor="b"/>
          <a:lstStyle>
            <a:lvl1pPr algn="ctr">
              <a:defRPr sz="9921"/>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889919" y="11231355"/>
            <a:ext cx="11339513" cy="5162758"/>
          </a:xfrm>
        </p:spPr>
        <p:txBody>
          <a:bodyPr/>
          <a:lstStyle>
            <a:lvl1pPr marL="0" indent="0" algn="ctr">
              <a:buNone/>
              <a:defRPr sz="3968"/>
            </a:lvl1pPr>
            <a:lvl2pPr marL="755980" indent="0" algn="ctr">
              <a:buNone/>
              <a:defRPr sz="3307"/>
            </a:lvl2pPr>
            <a:lvl3pPr marL="1511960" indent="0" algn="ctr">
              <a:buNone/>
              <a:defRPr sz="2976"/>
            </a:lvl3pPr>
            <a:lvl4pPr marL="2267941" indent="0" algn="ctr">
              <a:buNone/>
              <a:defRPr sz="2646"/>
            </a:lvl4pPr>
            <a:lvl5pPr marL="3023921" indent="0" algn="ctr">
              <a:buNone/>
              <a:defRPr sz="2646"/>
            </a:lvl5pPr>
            <a:lvl6pPr marL="3779901" indent="0" algn="ctr">
              <a:buNone/>
              <a:defRPr sz="2646"/>
            </a:lvl6pPr>
            <a:lvl7pPr marL="4535881" indent="0" algn="ctr">
              <a:buNone/>
              <a:defRPr sz="2646"/>
            </a:lvl7pPr>
            <a:lvl8pPr marL="5291861" indent="0" algn="ctr">
              <a:buNone/>
              <a:defRPr sz="2646"/>
            </a:lvl8pPr>
            <a:lvl9pPr marL="6047842" indent="0" algn="ctr">
              <a:buNone/>
              <a:defRPr sz="2646"/>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A8DA1BBD-1589-104E-89D9-FD291A5EDB06}" type="datetimeFigureOut">
              <a:rPr lang="es-ES_tradnl" smtClean="0"/>
              <a:t>19/12/2025</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14978457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8DA1BBD-1589-104E-89D9-FD291A5EDB06}" type="datetimeFigureOut">
              <a:rPr lang="es-ES_tradnl" smtClean="0"/>
              <a:t>19/12/2025</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8914890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031582" y="5331063"/>
            <a:ext cx="13040439" cy="8894992"/>
          </a:xfrm>
        </p:spPr>
        <p:txBody>
          <a:bodyPr anchor="b"/>
          <a:lstStyle>
            <a:lvl1pPr>
              <a:defRPr sz="9921"/>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031582" y="14310205"/>
            <a:ext cx="13040439" cy="4677666"/>
          </a:xfrm>
        </p:spPr>
        <p:txBody>
          <a:bodyPr/>
          <a:lstStyle>
            <a:lvl1pPr marL="0" indent="0">
              <a:buNone/>
              <a:defRPr sz="3968">
                <a:solidFill>
                  <a:schemeClr val="tx1">
                    <a:tint val="82000"/>
                  </a:schemeClr>
                </a:solidFill>
              </a:defRPr>
            </a:lvl1pPr>
            <a:lvl2pPr marL="755980" indent="0">
              <a:buNone/>
              <a:defRPr sz="3307">
                <a:solidFill>
                  <a:schemeClr val="tx1">
                    <a:tint val="82000"/>
                  </a:schemeClr>
                </a:solidFill>
              </a:defRPr>
            </a:lvl2pPr>
            <a:lvl3pPr marL="1511960" indent="0">
              <a:buNone/>
              <a:defRPr sz="2976">
                <a:solidFill>
                  <a:schemeClr val="tx1">
                    <a:tint val="82000"/>
                  </a:schemeClr>
                </a:solidFill>
              </a:defRPr>
            </a:lvl3pPr>
            <a:lvl4pPr marL="2267941" indent="0">
              <a:buNone/>
              <a:defRPr sz="2646">
                <a:solidFill>
                  <a:schemeClr val="tx1">
                    <a:tint val="82000"/>
                  </a:schemeClr>
                </a:solidFill>
              </a:defRPr>
            </a:lvl4pPr>
            <a:lvl5pPr marL="3023921" indent="0">
              <a:buNone/>
              <a:defRPr sz="2646">
                <a:solidFill>
                  <a:schemeClr val="tx1">
                    <a:tint val="82000"/>
                  </a:schemeClr>
                </a:solidFill>
              </a:defRPr>
            </a:lvl5pPr>
            <a:lvl6pPr marL="3779901" indent="0">
              <a:buNone/>
              <a:defRPr sz="2646">
                <a:solidFill>
                  <a:schemeClr val="tx1">
                    <a:tint val="82000"/>
                  </a:schemeClr>
                </a:solidFill>
              </a:defRPr>
            </a:lvl6pPr>
            <a:lvl7pPr marL="4535881" indent="0">
              <a:buNone/>
              <a:defRPr sz="2646">
                <a:solidFill>
                  <a:schemeClr val="tx1">
                    <a:tint val="82000"/>
                  </a:schemeClr>
                </a:solidFill>
              </a:defRPr>
            </a:lvl7pPr>
            <a:lvl8pPr marL="5291861" indent="0">
              <a:buNone/>
              <a:defRPr sz="2646">
                <a:solidFill>
                  <a:schemeClr val="tx1">
                    <a:tint val="82000"/>
                  </a:schemeClr>
                </a:solidFill>
              </a:defRPr>
            </a:lvl8pPr>
            <a:lvl9pPr marL="6047842" indent="0">
              <a:buNone/>
              <a:defRPr sz="2646">
                <a:solidFill>
                  <a:schemeClr val="tx1">
                    <a:tint val="82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A8DA1BBD-1589-104E-89D9-FD291A5EDB06}" type="datetimeFigureOut">
              <a:rPr lang="es-ES_tradnl" smtClean="0"/>
              <a:t>19/12/2025</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16988516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039455" y="5692400"/>
            <a:ext cx="6425724" cy="1356771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7654171" y="5692400"/>
            <a:ext cx="6425724" cy="1356771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A8DA1BBD-1589-104E-89D9-FD291A5EDB06}" type="datetimeFigureOut">
              <a:rPr lang="es-ES_tradnl" smtClean="0"/>
              <a:t>19/12/2025</a:t>
            </a:fld>
            <a:endParaRPr lang="es-ES_tradnl"/>
          </a:p>
        </p:txBody>
      </p:sp>
      <p:sp>
        <p:nvSpPr>
          <p:cNvPr id="6" name="Footer Placeholder 5"/>
          <p:cNvSpPr>
            <a:spLocks noGrp="1"/>
          </p:cNvSpPr>
          <p:nvPr>
            <p:ph type="ftr" sz="quarter" idx="11"/>
          </p:nvPr>
        </p:nvSpPr>
        <p:spPr/>
        <p:txBody>
          <a:bodyPr/>
          <a:lstStyle/>
          <a:p>
            <a:endParaRPr lang="es-ES_tradnl"/>
          </a:p>
        </p:txBody>
      </p:sp>
      <p:sp>
        <p:nvSpPr>
          <p:cNvPr id="7" name="Slide Number Placeholder 6"/>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9217054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1041425" y="1138485"/>
            <a:ext cx="13040439" cy="4133179"/>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41426" y="5241960"/>
            <a:ext cx="6396193" cy="2569003"/>
          </a:xfrm>
        </p:spPr>
        <p:txBody>
          <a:bodyPr anchor="b"/>
          <a:lstStyle>
            <a:lvl1pPr marL="0" indent="0">
              <a:buNone/>
              <a:defRPr sz="3968" b="1"/>
            </a:lvl1pPr>
            <a:lvl2pPr marL="755980" indent="0">
              <a:buNone/>
              <a:defRPr sz="3307" b="1"/>
            </a:lvl2pPr>
            <a:lvl3pPr marL="1511960" indent="0">
              <a:buNone/>
              <a:defRPr sz="2976" b="1"/>
            </a:lvl3pPr>
            <a:lvl4pPr marL="2267941" indent="0">
              <a:buNone/>
              <a:defRPr sz="2646" b="1"/>
            </a:lvl4pPr>
            <a:lvl5pPr marL="3023921" indent="0">
              <a:buNone/>
              <a:defRPr sz="2646" b="1"/>
            </a:lvl5pPr>
            <a:lvl6pPr marL="3779901" indent="0">
              <a:buNone/>
              <a:defRPr sz="2646" b="1"/>
            </a:lvl6pPr>
            <a:lvl7pPr marL="4535881" indent="0">
              <a:buNone/>
              <a:defRPr sz="2646" b="1"/>
            </a:lvl7pPr>
            <a:lvl8pPr marL="5291861" indent="0">
              <a:buNone/>
              <a:defRPr sz="2646" b="1"/>
            </a:lvl8pPr>
            <a:lvl9pPr marL="6047842" indent="0">
              <a:buNone/>
              <a:defRPr sz="2646" b="1"/>
            </a:lvl9pPr>
          </a:lstStyle>
          <a:p>
            <a:pPr lvl="0"/>
            <a:r>
              <a:rPr lang="es-ES"/>
              <a:t>Haga clic para modificar los estilos de texto del patrón</a:t>
            </a:r>
          </a:p>
        </p:txBody>
      </p:sp>
      <p:sp>
        <p:nvSpPr>
          <p:cNvPr id="4" name="Content Placeholder 3"/>
          <p:cNvSpPr>
            <a:spLocks noGrp="1"/>
          </p:cNvSpPr>
          <p:nvPr>
            <p:ph sz="half" idx="2"/>
          </p:nvPr>
        </p:nvSpPr>
        <p:spPr>
          <a:xfrm>
            <a:off x="1041426" y="7810963"/>
            <a:ext cx="6396193" cy="1148875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7654172" y="5241960"/>
            <a:ext cx="6427693" cy="2569003"/>
          </a:xfrm>
        </p:spPr>
        <p:txBody>
          <a:bodyPr anchor="b"/>
          <a:lstStyle>
            <a:lvl1pPr marL="0" indent="0">
              <a:buNone/>
              <a:defRPr sz="3968" b="1"/>
            </a:lvl1pPr>
            <a:lvl2pPr marL="755980" indent="0">
              <a:buNone/>
              <a:defRPr sz="3307" b="1"/>
            </a:lvl2pPr>
            <a:lvl3pPr marL="1511960" indent="0">
              <a:buNone/>
              <a:defRPr sz="2976" b="1"/>
            </a:lvl3pPr>
            <a:lvl4pPr marL="2267941" indent="0">
              <a:buNone/>
              <a:defRPr sz="2646" b="1"/>
            </a:lvl4pPr>
            <a:lvl5pPr marL="3023921" indent="0">
              <a:buNone/>
              <a:defRPr sz="2646" b="1"/>
            </a:lvl5pPr>
            <a:lvl6pPr marL="3779901" indent="0">
              <a:buNone/>
              <a:defRPr sz="2646" b="1"/>
            </a:lvl6pPr>
            <a:lvl7pPr marL="4535881" indent="0">
              <a:buNone/>
              <a:defRPr sz="2646" b="1"/>
            </a:lvl7pPr>
            <a:lvl8pPr marL="5291861" indent="0">
              <a:buNone/>
              <a:defRPr sz="2646" b="1"/>
            </a:lvl8pPr>
            <a:lvl9pPr marL="6047842" indent="0">
              <a:buNone/>
              <a:defRPr sz="2646" b="1"/>
            </a:lvl9pPr>
          </a:lstStyle>
          <a:p>
            <a:pPr lvl="0"/>
            <a:r>
              <a:rPr lang="es-ES"/>
              <a:t>Haga clic para modificar los estilos de texto del patrón</a:t>
            </a:r>
          </a:p>
        </p:txBody>
      </p:sp>
      <p:sp>
        <p:nvSpPr>
          <p:cNvPr id="6" name="Content Placeholder 5"/>
          <p:cNvSpPr>
            <a:spLocks noGrp="1"/>
          </p:cNvSpPr>
          <p:nvPr>
            <p:ph sz="quarter" idx="4"/>
          </p:nvPr>
        </p:nvSpPr>
        <p:spPr>
          <a:xfrm>
            <a:off x="7654172" y="7810963"/>
            <a:ext cx="6427693" cy="1148875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A8DA1BBD-1589-104E-89D9-FD291A5EDB06}" type="datetimeFigureOut">
              <a:rPr lang="es-ES_tradnl" smtClean="0"/>
              <a:t>19/12/2025</a:t>
            </a:fld>
            <a:endParaRPr lang="es-ES_tradnl"/>
          </a:p>
        </p:txBody>
      </p:sp>
      <p:sp>
        <p:nvSpPr>
          <p:cNvPr id="8" name="Footer Placeholder 7"/>
          <p:cNvSpPr>
            <a:spLocks noGrp="1"/>
          </p:cNvSpPr>
          <p:nvPr>
            <p:ph type="ftr" sz="quarter" idx="11"/>
          </p:nvPr>
        </p:nvSpPr>
        <p:spPr/>
        <p:txBody>
          <a:bodyPr/>
          <a:lstStyle/>
          <a:p>
            <a:endParaRPr lang="es-ES_tradnl"/>
          </a:p>
        </p:txBody>
      </p:sp>
      <p:sp>
        <p:nvSpPr>
          <p:cNvPr id="9" name="Slide Number Placeholder 8"/>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16320237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A8DA1BBD-1589-104E-89D9-FD291A5EDB06}" type="datetimeFigureOut">
              <a:rPr lang="es-ES_tradnl" smtClean="0"/>
              <a:t>19/12/2025</a:t>
            </a:fld>
            <a:endParaRPr lang="es-ES_tradnl"/>
          </a:p>
        </p:txBody>
      </p:sp>
      <p:sp>
        <p:nvSpPr>
          <p:cNvPr id="4" name="Footer Placeholder 3"/>
          <p:cNvSpPr>
            <a:spLocks noGrp="1"/>
          </p:cNvSpPr>
          <p:nvPr>
            <p:ph type="ftr" sz="quarter" idx="11"/>
          </p:nvPr>
        </p:nvSpPr>
        <p:spPr/>
        <p:txBody>
          <a:bodyPr/>
          <a:lstStyle/>
          <a:p>
            <a:endParaRPr lang="es-ES_tradnl"/>
          </a:p>
        </p:txBody>
      </p:sp>
      <p:sp>
        <p:nvSpPr>
          <p:cNvPr id="5" name="Slide Number Placeholder 4"/>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38927961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8DA1BBD-1589-104E-89D9-FD291A5EDB06}" type="datetimeFigureOut">
              <a:rPr lang="es-ES_tradnl" smtClean="0"/>
              <a:t>19/12/2025</a:t>
            </a:fld>
            <a:endParaRPr lang="es-ES_tradnl"/>
          </a:p>
        </p:txBody>
      </p:sp>
      <p:sp>
        <p:nvSpPr>
          <p:cNvPr id="3" name="Footer Placeholder 2"/>
          <p:cNvSpPr>
            <a:spLocks noGrp="1"/>
          </p:cNvSpPr>
          <p:nvPr>
            <p:ph type="ftr" sz="quarter" idx="11"/>
          </p:nvPr>
        </p:nvSpPr>
        <p:spPr/>
        <p:txBody>
          <a:bodyPr/>
          <a:lstStyle/>
          <a:p>
            <a:endParaRPr lang="es-ES_tradnl"/>
          </a:p>
        </p:txBody>
      </p:sp>
      <p:sp>
        <p:nvSpPr>
          <p:cNvPr id="4" name="Slide Number Placeholder 3"/>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5425610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041425" y="1425575"/>
            <a:ext cx="4876384" cy="4989513"/>
          </a:xfrm>
        </p:spPr>
        <p:txBody>
          <a:bodyPr anchor="b"/>
          <a:lstStyle>
            <a:lvl1pPr>
              <a:defRPr sz="5291"/>
            </a:lvl1pPr>
          </a:lstStyle>
          <a:p>
            <a:r>
              <a:rPr lang="es-ES"/>
              <a:t>Haga clic para modificar el estilo de título del patrón</a:t>
            </a:r>
            <a:endParaRPr lang="en-US" dirty="0"/>
          </a:p>
        </p:txBody>
      </p:sp>
      <p:sp>
        <p:nvSpPr>
          <p:cNvPr id="3" name="Content Placeholder 2"/>
          <p:cNvSpPr>
            <a:spLocks noGrp="1"/>
          </p:cNvSpPr>
          <p:nvPr>
            <p:ph idx="1"/>
          </p:nvPr>
        </p:nvSpPr>
        <p:spPr>
          <a:xfrm>
            <a:off x="6427693" y="3078850"/>
            <a:ext cx="7654171" cy="15196234"/>
          </a:xfrm>
        </p:spPr>
        <p:txBody>
          <a:bodyPr/>
          <a:lstStyle>
            <a:lvl1pPr>
              <a:defRPr sz="5291"/>
            </a:lvl1pPr>
            <a:lvl2pPr>
              <a:defRPr sz="4630"/>
            </a:lvl2pPr>
            <a:lvl3pPr>
              <a:defRPr sz="3968"/>
            </a:lvl3pPr>
            <a:lvl4pPr>
              <a:defRPr sz="3307"/>
            </a:lvl4pPr>
            <a:lvl5pPr>
              <a:defRPr sz="3307"/>
            </a:lvl5pPr>
            <a:lvl6pPr>
              <a:defRPr sz="3307"/>
            </a:lvl6pPr>
            <a:lvl7pPr>
              <a:defRPr sz="3307"/>
            </a:lvl7pPr>
            <a:lvl8pPr>
              <a:defRPr sz="3307"/>
            </a:lvl8pPr>
            <a:lvl9pPr>
              <a:defRPr sz="3307"/>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041425" y="6415088"/>
            <a:ext cx="4876384" cy="11884743"/>
          </a:xfrm>
        </p:spPr>
        <p:txBody>
          <a:bodyPr/>
          <a:lstStyle>
            <a:lvl1pPr marL="0" indent="0">
              <a:buNone/>
              <a:defRPr sz="2646"/>
            </a:lvl1pPr>
            <a:lvl2pPr marL="755980" indent="0">
              <a:buNone/>
              <a:defRPr sz="2315"/>
            </a:lvl2pPr>
            <a:lvl3pPr marL="1511960" indent="0">
              <a:buNone/>
              <a:defRPr sz="1984"/>
            </a:lvl3pPr>
            <a:lvl4pPr marL="2267941" indent="0">
              <a:buNone/>
              <a:defRPr sz="1654"/>
            </a:lvl4pPr>
            <a:lvl5pPr marL="3023921" indent="0">
              <a:buNone/>
              <a:defRPr sz="1654"/>
            </a:lvl5pPr>
            <a:lvl6pPr marL="3779901" indent="0">
              <a:buNone/>
              <a:defRPr sz="1654"/>
            </a:lvl6pPr>
            <a:lvl7pPr marL="4535881" indent="0">
              <a:buNone/>
              <a:defRPr sz="1654"/>
            </a:lvl7pPr>
            <a:lvl8pPr marL="5291861" indent="0">
              <a:buNone/>
              <a:defRPr sz="1654"/>
            </a:lvl8pPr>
            <a:lvl9pPr marL="6047842" indent="0">
              <a:buNone/>
              <a:defRPr sz="1654"/>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A8DA1BBD-1589-104E-89D9-FD291A5EDB06}" type="datetimeFigureOut">
              <a:rPr lang="es-ES_tradnl" smtClean="0"/>
              <a:t>19/12/2025</a:t>
            </a:fld>
            <a:endParaRPr lang="es-ES_tradnl"/>
          </a:p>
        </p:txBody>
      </p:sp>
      <p:sp>
        <p:nvSpPr>
          <p:cNvPr id="6" name="Footer Placeholder 5"/>
          <p:cNvSpPr>
            <a:spLocks noGrp="1"/>
          </p:cNvSpPr>
          <p:nvPr>
            <p:ph type="ftr" sz="quarter" idx="11"/>
          </p:nvPr>
        </p:nvSpPr>
        <p:spPr/>
        <p:txBody>
          <a:bodyPr/>
          <a:lstStyle/>
          <a:p>
            <a:endParaRPr lang="es-ES_tradnl"/>
          </a:p>
        </p:txBody>
      </p:sp>
      <p:sp>
        <p:nvSpPr>
          <p:cNvPr id="7" name="Slide Number Placeholder 6"/>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0484801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041425" y="1425575"/>
            <a:ext cx="4876384" cy="4989513"/>
          </a:xfrm>
        </p:spPr>
        <p:txBody>
          <a:bodyPr anchor="b"/>
          <a:lstStyle>
            <a:lvl1pPr>
              <a:defRPr sz="5291"/>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427693" y="3078850"/>
            <a:ext cx="7654171" cy="15196234"/>
          </a:xfrm>
        </p:spPr>
        <p:txBody>
          <a:bodyPr anchor="t"/>
          <a:lstStyle>
            <a:lvl1pPr marL="0" indent="0">
              <a:buNone/>
              <a:defRPr sz="5291"/>
            </a:lvl1pPr>
            <a:lvl2pPr marL="755980" indent="0">
              <a:buNone/>
              <a:defRPr sz="4630"/>
            </a:lvl2pPr>
            <a:lvl3pPr marL="1511960" indent="0">
              <a:buNone/>
              <a:defRPr sz="3968"/>
            </a:lvl3pPr>
            <a:lvl4pPr marL="2267941" indent="0">
              <a:buNone/>
              <a:defRPr sz="3307"/>
            </a:lvl4pPr>
            <a:lvl5pPr marL="3023921" indent="0">
              <a:buNone/>
              <a:defRPr sz="3307"/>
            </a:lvl5pPr>
            <a:lvl6pPr marL="3779901" indent="0">
              <a:buNone/>
              <a:defRPr sz="3307"/>
            </a:lvl6pPr>
            <a:lvl7pPr marL="4535881" indent="0">
              <a:buNone/>
              <a:defRPr sz="3307"/>
            </a:lvl7pPr>
            <a:lvl8pPr marL="5291861" indent="0">
              <a:buNone/>
              <a:defRPr sz="3307"/>
            </a:lvl8pPr>
            <a:lvl9pPr marL="6047842" indent="0">
              <a:buNone/>
              <a:defRPr sz="3307"/>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041425" y="6415088"/>
            <a:ext cx="4876384" cy="11884743"/>
          </a:xfrm>
        </p:spPr>
        <p:txBody>
          <a:bodyPr/>
          <a:lstStyle>
            <a:lvl1pPr marL="0" indent="0">
              <a:buNone/>
              <a:defRPr sz="2646"/>
            </a:lvl1pPr>
            <a:lvl2pPr marL="755980" indent="0">
              <a:buNone/>
              <a:defRPr sz="2315"/>
            </a:lvl2pPr>
            <a:lvl3pPr marL="1511960" indent="0">
              <a:buNone/>
              <a:defRPr sz="1984"/>
            </a:lvl3pPr>
            <a:lvl4pPr marL="2267941" indent="0">
              <a:buNone/>
              <a:defRPr sz="1654"/>
            </a:lvl4pPr>
            <a:lvl5pPr marL="3023921" indent="0">
              <a:buNone/>
              <a:defRPr sz="1654"/>
            </a:lvl5pPr>
            <a:lvl6pPr marL="3779901" indent="0">
              <a:buNone/>
              <a:defRPr sz="1654"/>
            </a:lvl6pPr>
            <a:lvl7pPr marL="4535881" indent="0">
              <a:buNone/>
              <a:defRPr sz="1654"/>
            </a:lvl7pPr>
            <a:lvl8pPr marL="5291861" indent="0">
              <a:buNone/>
              <a:defRPr sz="1654"/>
            </a:lvl8pPr>
            <a:lvl9pPr marL="6047842" indent="0">
              <a:buNone/>
              <a:defRPr sz="1654"/>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A8DA1BBD-1589-104E-89D9-FD291A5EDB06}" type="datetimeFigureOut">
              <a:rPr lang="es-ES_tradnl" smtClean="0"/>
              <a:t>19/12/2025</a:t>
            </a:fld>
            <a:endParaRPr lang="es-ES_tradnl"/>
          </a:p>
        </p:txBody>
      </p:sp>
      <p:sp>
        <p:nvSpPr>
          <p:cNvPr id="6" name="Footer Placeholder 5"/>
          <p:cNvSpPr>
            <a:spLocks noGrp="1"/>
          </p:cNvSpPr>
          <p:nvPr>
            <p:ph type="ftr" sz="quarter" idx="11"/>
          </p:nvPr>
        </p:nvSpPr>
        <p:spPr/>
        <p:txBody>
          <a:bodyPr/>
          <a:lstStyle/>
          <a:p>
            <a:endParaRPr lang="es-ES_tradnl"/>
          </a:p>
        </p:txBody>
      </p:sp>
      <p:sp>
        <p:nvSpPr>
          <p:cNvPr id="7" name="Slide Number Placeholder 6"/>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37775658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8DA1BBD-1589-104E-89D9-FD291A5EDB06}" type="datetimeFigureOut">
              <a:rPr lang="es-ES_tradnl" smtClean="0"/>
              <a:t>19/12/2025</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3361294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819786" y="1138480"/>
            <a:ext cx="3260110" cy="18121634"/>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039456" y="1138480"/>
            <a:ext cx="9591338" cy="18121634"/>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8DA1BBD-1589-104E-89D9-FD291A5EDB06}" type="datetimeFigureOut">
              <a:rPr lang="es-ES_tradnl" smtClean="0"/>
              <a:t>19/12/2025</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3072495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39456" y="1138485"/>
            <a:ext cx="13040439" cy="4133179"/>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39456" y="5692400"/>
            <a:ext cx="13040439" cy="13567714"/>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039455" y="19819457"/>
            <a:ext cx="3401854" cy="1138480"/>
          </a:xfrm>
          <a:prstGeom prst="rect">
            <a:avLst/>
          </a:prstGeom>
        </p:spPr>
        <p:txBody>
          <a:bodyPr vert="horz" lIns="91440" tIns="45720" rIns="91440" bIns="45720" rtlCol="0" anchor="ctr"/>
          <a:lstStyle>
            <a:lvl1pPr algn="l">
              <a:defRPr sz="1984">
                <a:solidFill>
                  <a:schemeClr val="tx1">
                    <a:tint val="82000"/>
                  </a:schemeClr>
                </a:solidFill>
              </a:defRPr>
            </a:lvl1pPr>
          </a:lstStyle>
          <a:p>
            <a:fld id="{A8DA1BBD-1589-104E-89D9-FD291A5EDB06}" type="datetimeFigureOut">
              <a:rPr lang="es-ES_tradnl" smtClean="0"/>
              <a:t>19/12/2025</a:t>
            </a:fld>
            <a:endParaRPr lang="es-ES_tradnl"/>
          </a:p>
        </p:txBody>
      </p:sp>
      <p:sp>
        <p:nvSpPr>
          <p:cNvPr id="5" name="Footer Placeholder 4"/>
          <p:cNvSpPr>
            <a:spLocks noGrp="1"/>
          </p:cNvSpPr>
          <p:nvPr>
            <p:ph type="ftr" sz="quarter" idx="3"/>
          </p:nvPr>
        </p:nvSpPr>
        <p:spPr>
          <a:xfrm>
            <a:off x="5008285" y="19819457"/>
            <a:ext cx="5102781" cy="1138480"/>
          </a:xfrm>
          <a:prstGeom prst="rect">
            <a:avLst/>
          </a:prstGeom>
        </p:spPr>
        <p:txBody>
          <a:bodyPr vert="horz" lIns="91440" tIns="45720" rIns="91440" bIns="45720" rtlCol="0" anchor="ctr"/>
          <a:lstStyle>
            <a:lvl1pPr algn="ctr">
              <a:defRPr sz="1984">
                <a:solidFill>
                  <a:schemeClr val="tx1">
                    <a:tint val="82000"/>
                  </a:schemeClr>
                </a:solidFill>
              </a:defRPr>
            </a:lvl1pPr>
          </a:lstStyle>
          <a:p>
            <a:endParaRPr lang="es-ES_tradnl"/>
          </a:p>
        </p:txBody>
      </p:sp>
      <p:sp>
        <p:nvSpPr>
          <p:cNvPr id="6" name="Slide Number Placeholder 5"/>
          <p:cNvSpPr>
            <a:spLocks noGrp="1"/>
          </p:cNvSpPr>
          <p:nvPr>
            <p:ph type="sldNum" sz="quarter" idx="4"/>
          </p:nvPr>
        </p:nvSpPr>
        <p:spPr>
          <a:xfrm>
            <a:off x="10678041" y="19819457"/>
            <a:ext cx="3401854" cy="1138480"/>
          </a:xfrm>
          <a:prstGeom prst="rect">
            <a:avLst/>
          </a:prstGeom>
        </p:spPr>
        <p:txBody>
          <a:bodyPr vert="horz" lIns="91440" tIns="45720" rIns="91440" bIns="45720" rtlCol="0" anchor="ctr"/>
          <a:lstStyle>
            <a:lvl1pPr algn="r">
              <a:defRPr sz="1984">
                <a:solidFill>
                  <a:schemeClr val="tx1">
                    <a:tint val="82000"/>
                  </a:schemeClr>
                </a:solidFill>
              </a:defRPr>
            </a:lvl1p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83253516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1511960" rtl="0" eaLnBrk="1" latinLnBrk="0" hangingPunct="1">
        <a:lnSpc>
          <a:spcPct val="90000"/>
        </a:lnSpc>
        <a:spcBef>
          <a:spcPct val="0"/>
        </a:spcBef>
        <a:buNone/>
        <a:defRPr sz="7275" kern="1200">
          <a:solidFill>
            <a:schemeClr val="tx1"/>
          </a:solidFill>
          <a:latin typeface="+mj-lt"/>
          <a:ea typeface="+mj-ea"/>
          <a:cs typeface="+mj-cs"/>
        </a:defRPr>
      </a:lvl1pPr>
    </p:titleStyle>
    <p:bodyStyle>
      <a:lvl1pPr marL="377990" indent="-377990" algn="l" defTabSz="1511960" rtl="0" eaLnBrk="1" latinLnBrk="0" hangingPunct="1">
        <a:lnSpc>
          <a:spcPct val="90000"/>
        </a:lnSpc>
        <a:spcBef>
          <a:spcPts val="1654"/>
        </a:spcBef>
        <a:buFont typeface="Arial" panose="020B0604020202020204" pitchFamily="34" charset="0"/>
        <a:buChar char="•"/>
        <a:defRPr sz="4630" kern="1200">
          <a:solidFill>
            <a:schemeClr val="tx1"/>
          </a:solidFill>
          <a:latin typeface="+mn-lt"/>
          <a:ea typeface="+mn-ea"/>
          <a:cs typeface="+mn-cs"/>
        </a:defRPr>
      </a:lvl1pPr>
      <a:lvl2pPr marL="1133970" indent="-377990" algn="l" defTabSz="1511960" rtl="0" eaLnBrk="1" latinLnBrk="0" hangingPunct="1">
        <a:lnSpc>
          <a:spcPct val="90000"/>
        </a:lnSpc>
        <a:spcBef>
          <a:spcPts val="827"/>
        </a:spcBef>
        <a:buFont typeface="Arial" panose="020B0604020202020204" pitchFamily="34" charset="0"/>
        <a:buChar char="•"/>
        <a:defRPr sz="3968" kern="1200">
          <a:solidFill>
            <a:schemeClr val="tx1"/>
          </a:solidFill>
          <a:latin typeface="+mn-lt"/>
          <a:ea typeface="+mn-ea"/>
          <a:cs typeface="+mn-cs"/>
        </a:defRPr>
      </a:lvl2pPr>
      <a:lvl3pPr marL="1889951" indent="-377990" algn="l" defTabSz="1511960" rtl="0" eaLnBrk="1" latinLnBrk="0" hangingPunct="1">
        <a:lnSpc>
          <a:spcPct val="90000"/>
        </a:lnSpc>
        <a:spcBef>
          <a:spcPts val="827"/>
        </a:spcBef>
        <a:buFont typeface="Arial" panose="020B0604020202020204" pitchFamily="34" charset="0"/>
        <a:buChar char="•"/>
        <a:defRPr sz="3307" kern="1200">
          <a:solidFill>
            <a:schemeClr val="tx1"/>
          </a:solidFill>
          <a:latin typeface="+mn-lt"/>
          <a:ea typeface="+mn-ea"/>
          <a:cs typeface="+mn-cs"/>
        </a:defRPr>
      </a:lvl3pPr>
      <a:lvl4pPr marL="2645931"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4pPr>
      <a:lvl5pPr marL="3401911"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5pPr>
      <a:lvl6pPr marL="4157891"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6pPr>
      <a:lvl7pPr marL="4913871"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7pPr>
      <a:lvl8pPr marL="5669852"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8pPr>
      <a:lvl9pPr marL="6425832"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9pPr>
    </p:bodyStyle>
    <p:otherStyle>
      <a:defPPr>
        <a:defRPr lang="en-US"/>
      </a:defPPr>
      <a:lvl1pPr marL="0" algn="l" defTabSz="1511960" rtl="0" eaLnBrk="1" latinLnBrk="0" hangingPunct="1">
        <a:defRPr sz="2976" kern="1200">
          <a:solidFill>
            <a:schemeClr val="tx1"/>
          </a:solidFill>
          <a:latin typeface="+mn-lt"/>
          <a:ea typeface="+mn-ea"/>
          <a:cs typeface="+mn-cs"/>
        </a:defRPr>
      </a:lvl1pPr>
      <a:lvl2pPr marL="755980" algn="l" defTabSz="1511960" rtl="0" eaLnBrk="1" latinLnBrk="0" hangingPunct="1">
        <a:defRPr sz="2976" kern="1200">
          <a:solidFill>
            <a:schemeClr val="tx1"/>
          </a:solidFill>
          <a:latin typeface="+mn-lt"/>
          <a:ea typeface="+mn-ea"/>
          <a:cs typeface="+mn-cs"/>
        </a:defRPr>
      </a:lvl2pPr>
      <a:lvl3pPr marL="1511960" algn="l" defTabSz="1511960" rtl="0" eaLnBrk="1" latinLnBrk="0" hangingPunct="1">
        <a:defRPr sz="2976" kern="1200">
          <a:solidFill>
            <a:schemeClr val="tx1"/>
          </a:solidFill>
          <a:latin typeface="+mn-lt"/>
          <a:ea typeface="+mn-ea"/>
          <a:cs typeface="+mn-cs"/>
        </a:defRPr>
      </a:lvl3pPr>
      <a:lvl4pPr marL="2267941" algn="l" defTabSz="1511960" rtl="0" eaLnBrk="1" latinLnBrk="0" hangingPunct="1">
        <a:defRPr sz="2976" kern="1200">
          <a:solidFill>
            <a:schemeClr val="tx1"/>
          </a:solidFill>
          <a:latin typeface="+mn-lt"/>
          <a:ea typeface="+mn-ea"/>
          <a:cs typeface="+mn-cs"/>
        </a:defRPr>
      </a:lvl4pPr>
      <a:lvl5pPr marL="3023921" algn="l" defTabSz="1511960" rtl="0" eaLnBrk="1" latinLnBrk="0" hangingPunct="1">
        <a:defRPr sz="2976" kern="1200">
          <a:solidFill>
            <a:schemeClr val="tx1"/>
          </a:solidFill>
          <a:latin typeface="+mn-lt"/>
          <a:ea typeface="+mn-ea"/>
          <a:cs typeface="+mn-cs"/>
        </a:defRPr>
      </a:lvl5pPr>
      <a:lvl6pPr marL="3779901" algn="l" defTabSz="1511960" rtl="0" eaLnBrk="1" latinLnBrk="0" hangingPunct="1">
        <a:defRPr sz="2976" kern="1200">
          <a:solidFill>
            <a:schemeClr val="tx1"/>
          </a:solidFill>
          <a:latin typeface="+mn-lt"/>
          <a:ea typeface="+mn-ea"/>
          <a:cs typeface="+mn-cs"/>
        </a:defRPr>
      </a:lvl6pPr>
      <a:lvl7pPr marL="4535881" algn="l" defTabSz="1511960" rtl="0" eaLnBrk="1" latinLnBrk="0" hangingPunct="1">
        <a:defRPr sz="2976" kern="1200">
          <a:solidFill>
            <a:schemeClr val="tx1"/>
          </a:solidFill>
          <a:latin typeface="+mn-lt"/>
          <a:ea typeface="+mn-ea"/>
          <a:cs typeface="+mn-cs"/>
        </a:defRPr>
      </a:lvl7pPr>
      <a:lvl8pPr marL="5291861" algn="l" defTabSz="1511960" rtl="0" eaLnBrk="1" latinLnBrk="0" hangingPunct="1">
        <a:defRPr sz="2976" kern="1200">
          <a:solidFill>
            <a:schemeClr val="tx1"/>
          </a:solidFill>
          <a:latin typeface="+mn-lt"/>
          <a:ea typeface="+mn-ea"/>
          <a:cs typeface="+mn-cs"/>
        </a:defRPr>
      </a:lvl8pPr>
      <a:lvl9pPr marL="6047842" algn="l" defTabSz="1511960" rtl="0" eaLnBrk="1" latinLnBrk="0" hangingPunct="1">
        <a:defRPr sz="297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14000">
              <a:schemeClr val="bg1"/>
            </a:gs>
            <a:gs pos="99000">
              <a:srgbClr val="59C2E3">
                <a:alpha val="25000"/>
              </a:srgbClr>
            </a:gs>
          </a:gsLst>
          <a:lin ang="2700000" scaled="1"/>
          <a:tileRect/>
        </a:gradFill>
        <a:effectLst/>
      </p:bgPr>
    </p:bg>
    <p:spTree>
      <p:nvGrpSpPr>
        <p:cNvPr id="1" name="">
          <a:extLst>
            <a:ext uri="{FF2B5EF4-FFF2-40B4-BE49-F238E27FC236}">
              <a16:creationId xmlns:a16="http://schemas.microsoft.com/office/drawing/2014/main" id="{177A72C3-DD61-5B61-E46F-EDD19D1F5215}"/>
            </a:ext>
          </a:extLst>
        </p:cNvPr>
        <p:cNvGrpSpPr/>
        <p:nvPr/>
      </p:nvGrpSpPr>
      <p:grpSpPr>
        <a:xfrm>
          <a:off x="0" y="0"/>
          <a:ext cx="0" cy="0"/>
          <a:chOff x="0" y="0"/>
          <a:chExt cx="0" cy="0"/>
        </a:xfrm>
      </p:grpSpPr>
      <p:grpSp>
        <p:nvGrpSpPr>
          <p:cNvPr id="4" name="Grupo 3">
            <a:extLst>
              <a:ext uri="{FF2B5EF4-FFF2-40B4-BE49-F238E27FC236}">
                <a16:creationId xmlns:a16="http://schemas.microsoft.com/office/drawing/2014/main" id="{E1AA44F9-4D9B-B58B-32B6-5CC8410E7CBE}"/>
              </a:ext>
            </a:extLst>
          </p:cNvPr>
          <p:cNvGrpSpPr/>
          <p:nvPr/>
        </p:nvGrpSpPr>
        <p:grpSpPr>
          <a:xfrm>
            <a:off x="225180" y="3484254"/>
            <a:ext cx="14668990" cy="1717413"/>
            <a:chOff x="225180" y="3930299"/>
            <a:chExt cx="14668990" cy="1717413"/>
          </a:xfrm>
        </p:grpSpPr>
        <p:sp>
          <p:nvSpPr>
            <p:cNvPr id="8" name="Rectángulo redondeado 7">
              <a:extLst>
                <a:ext uri="{FF2B5EF4-FFF2-40B4-BE49-F238E27FC236}">
                  <a16:creationId xmlns:a16="http://schemas.microsoft.com/office/drawing/2014/main" id="{C4D1F524-44A5-F16E-9FD3-EE5EA5819EAD}"/>
                </a:ext>
              </a:extLst>
            </p:cNvPr>
            <p:cNvSpPr/>
            <p:nvPr/>
          </p:nvSpPr>
          <p:spPr>
            <a:xfrm>
              <a:off x="225180" y="4246822"/>
              <a:ext cx="14668990" cy="1400890"/>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r>
                <a:rPr lang="es-ES" i="1" dirty="0">
                  <a:solidFill>
                    <a:schemeClr val="tx1"/>
                  </a:solidFill>
                </a:rPr>
                <a:t>La obesidad está clasificada por la Organización Mundial de la Salud como una enfermedad crónica y constituye una crisis de salud pública a nivel global. Se considera el resultado de interacciones biológicas complejas, entre las cuales la regulación genética desempeña un papel relevante. En este contexto, se plantea que los individuos obesos presentan un perfil de expresión génica distinto al de individuos </a:t>
              </a:r>
              <a:r>
                <a:rPr lang="es-ES" i="1" dirty="0" err="1">
                  <a:solidFill>
                    <a:schemeClr val="tx1"/>
                  </a:solidFill>
                </a:rPr>
                <a:t>normopeso</a:t>
              </a:r>
              <a:r>
                <a:rPr lang="es-ES" i="1" dirty="0">
                  <a:solidFill>
                    <a:schemeClr val="tx1"/>
                  </a:solidFill>
                </a:rPr>
                <a:t>, con el objetivo de identificar genes diferencialmente expresados entre ambos grupos y evaluar su relación con la obesidad.</a:t>
              </a:r>
              <a:endParaRPr lang="es-ES_tradnl" sz="2400" i="1" dirty="0">
                <a:solidFill>
                  <a:schemeClr val="tx1"/>
                </a:solidFill>
              </a:endParaRPr>
            </a:p>
          </p:txBody>
        </p:sp>
        <p:sp>
          <p:nvSpPr>
            <p:cNvPr id="7" name="Rectángulo redondeado 6">
              <a:extLst>
                <a:ext uri="{FF2B5EF4-FFF2-40B4-BE49-F238E27FC236}">
                  <a16:creationId xmlns:a16="http://schemas.microsoft.com/office/drawing/2014/main" id="{15811AE5-F929-12ED-D44E-9D1519220278}"/>
                </a:ext>
              </a:extLst>
            </p:cNvPr>
            <p:cNvSpPr/>
            <p:nvPr/>
          </p:nvSpPr>
          <p:spPr>
            <a:xfrm>
              <a:off x="518258" y="3930299"/>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a:t>INTRODUCCIÓN</a:t>
              </a:r>
              <a:endParaRPr lang="es-ES_tradnl" sz="2800" b="1" dirty="0"/>
            </a:p>
          </p:txBody>
        </p:sp>
      </p:grpSp>
      <p:grpSp>
        <p:nvGrpSpPr>
          <p:cNvPr id="6" name="Grupo 5">
            <a:extLst>
              <a:ext uri="{FF2B5EF4-FFF2-40B4-BE49-F238E27FC236}">
                <a16:creationId xmlns:a16="http://schemas.microsoft.com/office/drawing/2014/main" id="{88FB225B-2F62-B172-D75B-E02EF3836A0E}"/>
              </a:ext>
            </a:extLst>
          </p:cNvPr>
          <p:cNvGrpSpPr/>
          <p:nvPr/>
        </p:nvGrpSpPr>
        <p:grpSpPr>
          <a:xfrm>
            <a:off x="207596" y="5304813"/>
            <a:ext cx="14668990" cy="1857254"/>
            <a:chOff x="207596" y="6246158"/>
            <a:chExt cx="14668990" cy="1857254"/>
          </a:xfrm>
        </p:grpSpPr>
        <p:sp>
          <p:nvSpPr>
            <p:cNvPr id="14" name="Rectángulo redondeado 13">
              <a:extLst>
                <a:ext uri="{FF2B5EF4-FFF2-40B4-BE49-F238E27FC236}">
                  <a16:creationId xmlns:a16="http://schemas.microsoft.com/office/drawing/2014/main" id="{FC179AD0-ED02-975F-E151-1E1C61EAD8F2}"/>
                </a:ext>
              </a:extLst>
            </p:cNvPr>
            <p:cNvSpPr/>
            <p:nvPr/>
          </p:nvSpPr>
          <p:spPr>
            <a:xfrm>
              <a:off x="207596" y="6427010"/>
              <a:ext cx="14668990" cy="1676402"/>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endParaRPr lang="es-ES" i="1" dirty="0">
                <a:solidFill>
                  <a:schemeClr val="tx1"/>
                </a:solidFill>
              </a:endParaRPr>
            </a:p>
            <a:p>
              <a:pPr algn="just">
                <a:lnSpc>
                  <a:spcPct val="80000"/>
                </a:lnSpc>
              </a:pPr>
              <a:r>
                <a:rPr lang="es-ES" i="1" dirty="0">
                  <a:solidFill>
                    <a:schemeClr val="tx1"/>
                  </a:solidFill>
                </a:rPr>
                <a:t>Se analizaron datos de RNA-</a:t>
              </a:r>
              <a:r>
                <a:rPr lang="es-ES" i="1" dirty="0" err="1">
                  <a:solidFill>
                    <a:schemeClr val="tx1"/>
                  </a:solidFill>
                </a:rPr>
                <a:t>seq</a:t>
              </a:r>
              <a:r>
                <a:rPr lang="es-ES" i="1" dirty="0">
                  <a:solidFill>
                    <a:schemeClr val="tx1"/>
                  </a:solidFill>
                </a:rPr>
                <a:t> simulados correspondientes a individuos obesos y </a:t>
              </a:r>
              <a:r>
                <a:rPr lang="es-ES" i="1" dirty="0" err="1">
                  <a:solidFill>
                    <a:schemeClr val="tx1"/>
                  </a:solidFill>
                </a:rPr>
                <a:t>normopeso</a:t>
              </a:r>
              <a:r>
                <a:rPr lang="es-ES" i="1" dirty="0">
                  <a:solidFill>
                    <a:schemeClr val="tx1"/>
                  </a:solidFill>
                </a:rPr>
                <a:t>. La calidad de las lecturas se evaluó mediante </a:t>
              </a:r>
              <a:r>
                <a:rPr lang="es-ES" i="1" dirty="0" err="1">
                  <a:solidFill>
                    <a:schemeClr val="tx1"/>
                  </a:solidFill>
                </a:rPr>
                <a:t>FastQC</a:t>
              </a:r>
              <a:r>
                <a:rPr lang="es-ES" i="1" dirty="0">
                  <a:solidFill>
                    <a:schemeClr val="tx1"/>
                  </a:solidFill>
                </a:rPr>
                <a:t>. La asignación y cuantificación de las lecturas se realizó mediante </a:t>
              </a:r>
              <a:r>
                <a:rPr lang="es-ES" i="1" dirty="0" err="1">
                  <a:solidFill>
                    <a:schemeClr val="tx1"/>
                  </a:solidFill>
                </a:rPr>
                <a:t>pseudoalineamiento</a:t>
              </a:r>
              <a:r>
                <a:rPr lang="es-ES" i="1" dirty="0">
                  <a:solidFill>
                    <a:schemeClr val="tx1"/>
                  </a:solidFill>
                </a:rPr>
                <a:t> con Salmon, obteniendo conteos a nivel génico. El análisis de expresión diferencial entre condiciones se llevó a cabo contrastando los métodos estadísticos DESeq2 y </a:t>
              </a:r>
              <a:r>
                <a:rPr lang="es-ES" i="1" dirty="0" err="1">
                  <a:solidFill>
                    <a:schemeClr val="tx1"/>
                  </a:solidFill>
                </a:rPr>
                <a:t>EdgeR</a:t>
              </a:r>
              <a:r>
                <a:rPr lang="es-ES" i="1" dirty="0">
                  <a:solidFill>
                    <a:schemeClr val="tx1"/>
                  </a:solidFill>
                </a:rPr>
                <a:t>, con y sin normalización, respectivamente. Los resultados se visualizaron mediante </a:t>
              </a:r>
              <a:r>
                <a:rPr lang="es-ES" i="1" dirty="0" err="1">
                  <a:solidFill>
                    <a:schemeClr val="tx1"/>
                  </a:solidFill>
                </a:rPr>
                <a:t>volcano</a:t>
              </a:r>
              <a:r>
                <a:rPr lang="es-ES" i="1" dirty="0">
                  <a:solidFill>
                    <a:schemeClr val="tx1"/>
                  </a:solidFill>
                </a:rPr>
                <a:t> </a:t>
              </a:r>
              <a:r>
                <a:rPr lang="es-ES" i="1" dirty="0" err="1">
                  <a:solidFill>
                    <a:schemeClr val="tx1"/>
                  </a:solidFill>
                </a:rPr>
                <a:t>plots</a:t>
              </a:r>
              <a:r>
                <a:rPr lang="es-ES" i="1" dirty="0">
                  <a:solidFill>
                    <a:schemeClr val="tx1"/>
                  </a:solidFill>
                </a:rPr>
                <a:t> y </a:t>
              </a:r>
              <a:r>
                <a:rPr lang="es-ES" i="1" dirty="0" err="1">
                  <a:solidFill>
                    <a:schemeClr val="tx1"/>
                  </a:solidFill>
                </a:rPr>
                <a:t>heatmaps</a:t>
              </a:r>
              <a:r>
                <a:rPr lang="es-ES" i="1" dirty="0">
                  <a:solidFill>
                    <a:schemeClr val="tx1"/>
                  </a:solidFill>
                </a:rPr>
                <a:t>.</a:t>
              </a:r>
              <a:endParaRPr lang="es-ES_tradnl" sz="2400" i="1" dirty="0">
                <a:solidFill>
                  <a:schemeClr val="tx1"/>
                </a:solidFill>
              </a:endParaRPr>
            </a:p>
          </p:txBody>
        </p:sp>
        <p:sp>
          <p:nvSpPr>
            <p:cNvPr id="15" name="Rectángulo redondeado 14">
              <a:extLst>
                <a:ext uri="{FF2B5EF4-FFF2-40B4-BE49-F238E27FC236}">
                  <a16:creationId xmlns:a16="http://schemas.microsoft.com/office/drawing/2014/main" id="{51C45BDA-AC75-EE13-A211-698BB3CF2EDC}"/>
                </a:ext>
              </a:extLst>
            </p:cNvPr>
            <p:cNvSpPr/>
            <p:nvPr/>
          </p:nvSpPr>
          <p:spPr>
            <a:xfrm>
              <a:off x="500673" y="6246158"/>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METODOLOGÍA</a:t>
              </a:r>
            </a:p>
          </p:txBody>
        </p:sp>
      </p:grpSp>
      <p:grpSp>
        <p:nvGrpSpPr>
          <p:cNvPr id="9" name="Grupo 8">
            <a:extLst>
              <a:ext uri="{FF2B5EF4-FFF2-40B4-BE49-F238E27FC236}">
                <a16:creationId xmlns:a16="http://schemas.microsoft.com/office/drawing/2014/main" id="{0449220D-F047-A208-80A5-ECB282B1A62A}"/>
              </a:ext>
            </a:extLst>
          </p:cNvPr>
          <p:cNvGrpSpPr/>
          <p:nvPr/>
        </p:nvGrpSpPr>
        <p:grpSpPr>
          <a:xfrm>
            <a:off x="207596" y="7336997"/>
            <a:ext cx="14668990" cy="9782603"/>
            <a:chOff x="225180" y="8290675"/>
            <a:chExt cx="14668990" cy="9782603"/>
          </a:xfrm>
        </p:grpSpPr>
        <p:sp>
          <p:nvSpPr>
            <p:cNvPr id="16" name="Rectángulo redondeado 15">
              <a:extLst>
                <a:ext uri="{FF2B5EF4-FFF2-40B4-BE49-F238E27FC236}">
                  <a16:creationId xmlns:a16="http://schemas.microsoft.com/office/drawing/2014/main" id="{F757B5F2-E57A-7217-E1AA-4D7E21F42FA0}"/>
                </a:ext>
              </a:extLst>
            </p:cNvPr>
            <p:cNvSpPr/>
            <p:nvPr/>
          </p:nvSpPr>
          <p:spPr>
            <a:xfrm>
              <a:off x="225180" y="8607196"/>
              <a:ext cx="14668990" cy="9466082"/>
            </a:xfrm>
            <a:prstGeom prst="roundRect">
              <a:avLst>
                <a:gd name="adj" fmla="val 1988"/>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endParaRPr lang="es-ES_tradnl" sz="2400" i="1" dirty="0">
                <a:solidFill>
                  <a:schemeClr val="tx1"/>
                </a:solidFill>
              </a:endParaRPr>
            </a:p>
          </p:txBody>
        </p:sp>
        <p:sp>
          <p:nvSpPr>
            <p:cNvPr id="17" name="Rectángulo redondeado 16">
              <a:extLst>
                <a:ext uri="{FF2B5EF4-FFF2-40B4-BE49-F238E27FC236}">
                  <a16:creationId xmlns:a16="http://schemas.microsoft.com/office/drawing/2014/main" id="{D2CE81C2-DE7D-86C0-BE63-0B1C502B9BDA}"/>
                </a:ext>
              </a:extLst>
            </p:cNvPr>
            <p:cNvSpPr/>
            <p:nvPr/>
          </p:nvSpPr>
          <p:spPr>
            <a:xfrm>
              <a:off x="518258" y="8290675"/>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RESULTADOS</a:t>
              </a:r>
            </a:p>
          </p:txBody>
        </p:sp>
      </p:grpSp>
      <p:pic>
        <p:nvPicPr>
          <p:cNvPr id="1028" name="Picture 4">
            <a:extLst>
              <a:ext uri="{FF2B5EF4-FFF2-40B4-BE49-F238E27FC236}">
                <a16:creationId xmlns:a16="http://schemas.microsoft.com/office/drawing/2014/main" id="{D59CAA55-5763-DE38-517F-B4583DC84A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50767" y="-95516"/>
            <a:ext cx="2325820" cy="1400890"/>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upo 17">
            <a:extLst>
              <a:ext uri="{FF2B5EF4-FFF2-40B4-BE49-F238E27FC236}">
                <a16:creationId xmlns:a16="http://schemas.microsoft.com/office/drawing/2014/main" id="{7943CC5D-1654-184E-A7EC-A76F98FA9E8B}"/>
              </a:ext>
            </a:extLst>
          </p:cNvPr>
          <p:cNvGrpSpPr>
            <a:grpSpLocks noChangeAspect="1"/>
          </p:cNvGrpSpPr>
          <p:nvPr/>
        </p:nvGrpSpPr>
        <p:grpSpPr>
          <a:xfrm>
            <a:off x="0" y="-5895"/>
            <a:ext cx="3397496" cy="2303046"/>
            <a:chOff x="0" y="-5895"/>
            <a:chExt cx="4834200" cy="3276938"/>
          </a:xfrm>
        </p:grpSpPr>
        <p:pic>
          <p:nvPicPr>
            <p:cNvPr id="5" name="Imagen 4">
              <a:extLst>
                <a:ext uri="{FF2B5EF4-FFF2-40B4-BE49-F238E27FC236}">
                  <a16:creationId xmlns:a16="http://schemas.microsoft.com/office/drawing/2014/main" id="{7E5760BA-D4D0-7C9E-76ED-065ED11398EB}"/>
                </a:ext>
              </a:extLst>
            </p:cNvPr>
            <p:cNvPicPr>
              <a:picLocks noChangeAspect="1"/>
            </p:cNvPicPr>
            <p:nvPr/>
          </p:nvPicPr>
          <p:blipFill>
            <a:blip r:embed="rId3"/>
            <a:stretch>
              <a:fillRect/>
            </a:stretch>
          </p:blipFill>
          <p:spPr>
            <a:xfrm>
              <a:off x="0" y="-5895"/>
              <a:ext cx="4834200" cy="3276938"/>
            </a:xfrm>
            <a:prstGeom prst="rect">
              <a:avLst/>
            </a:prstGeom>
          </p:spPr>
        </p:pic>
        <p:sp>
          <p:nvSpPr>
            <p:cNvPr id="2" name="Rectángulo 1">
              <a:extLst>
                <a:ext uri="{FF2B5EF4-FFF2-40B4-BE49-F238E27FC236}">
                  <a16:creationId xmlns:a16="http://schemas.microsoft.com/office/drawing/2014/main" id="{4D86C97A-A2AB-20A7-3EB2-1F46C5416136}"/>
                </a:ext>
              </a:extLst>
            </p:cNvPr>
            <p:cNvSpPr/>
            <p:nvPr/>
          </p:nvSpPr>
          <p:spPr>
            <a:xfrm>
              <a:off x="964642" y="1549130"/>
              <a:ext cx="2257529" cy="67155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grpSp>
      <p:sp>
        <p:nvSpPr>
          <p:cNvPr id="3" name="Rectángulo redondeado 2">
            <a:extLst>
              <a:ext uri="{FF2B5EF4-FFF2-40B4-BE49-F238E27FC236}">
                <a16:creationId xmlns:a16="http://schemas.microsoft.com/office/drawing/2014/main" id="{70138B42-E335-E05D-E193-37141538289E}"/>
              </a:ext>
            </a:extLst>
          </p:cNvPr>
          <p:cNvSpPr/>
          <p:nvPr/>
        </p:nvSpPr>
        <p:spPr>
          <a:xfrm>
            <a:off x="677955" y="1320342"/>
            <a:ext cx="13763441" cy="1981203"/>
          </a:xfrm>
          <a:prstGeom prst="roundRect">
            <a:avLst>
              <a:gd name="adj" fmla="val 9702"/>
            </a:avLst>
          </a:prstGeom>
          <a:solidFill>
            <a:srgbClr val="4196C9"/>
          </a:solidFill>
          <a:ln>
            <a:noFill/>
          </a:ln>
        </p:spPr>
        <p:style>
          <a:lnRef idx="2">
            <a:schemeClr val="accent1">
              <a:shade val="15000"/>
            </a:schemeClr>
          </a:lnRef>
          <a:fillRef idx="1">
            <a:schemeClr val="accent1"/>
          </a:fillRef>
          <a:effectRef idx="0">
            <a:schemeClr val="accent1"/>
          </a:effectRef>
          <a:fontRef idx="minor">
            <a:schemeClr val="lt1"/>
          </a:fontRef>
        </p:style>
        <p:txBody>
          <a:bodyPr lIns="90000" tIns="46800" rtlCol="0" anchor="ctr"/>
          <a:lstStyle/>
          <a:p>
            <a:pPr algn="ctr"/>
            <a:r>
              <a:rPr lang="es-ES_tradnl" sz="4000" b="1" dirty="0">
                <a:solidFill>
                  <a:schemeClr val="bg1"/>
                </a:solidFill>
              </a:rPr>
              <a:t>Análisis de expresión diferencial de genes relacionados con la obesidad mediante RNA-</a:t>
            </a:r>
            <a:r>
              <a:rPr lang="es-ES_tradnl" sz="4000" b="1" dirty="0" err="1">
                <a:solidFill>
                  <a:schemeClr val="bg1"/>
                </a:solidFill>
              </a:rPr>
              <a:t>seq</a:t>
            </a:r>
            <a:endParaRPr lang="es-ES_tradnl" sz="4000" b="1" dirty="0">
              <a:solidFill>
                <a:schemeClr val="bg1"/>
              </a:solidFill>
            </a:endParaRPr>
          </a:p>
          <a:p>
            <a:pPr algn="ctr">
              <a:lnSpc>
                <a:spcPct val="80000"/>
              </a:lnSpc>
            </a:pPr>
            <a:r>
              <a:rPr lang="es-ES_tradnl" sz="2800" b="1" i="1" dirty="0">
                <a:solidFill>
                  <a:schemeClr val="bg1"/>
                </a:solidFill>
              </a:rPr>
              <a:t>Secuenciación y ómicas de Próxima Generación</a:t>
            </a:r>
            <a:endParaRPr lang="es-ES_tradnl" sz="3600" b="1" i="1" dirty="0">
              <a:solidFill>
                <a:schemeClr val="bg1"/>
              </a:solidFill>
            </a:endParaRPr>
          </a:p>
          <a:p>
            <a:pPr algn="ctr">
              <a:lnSpc>
                <a:spcPct val="80000"/>
              </a:lnSpc>
            </a:pPr>
            <a:r>
              <a:rPr lang="es-ES_tradnl" b="1" i="1" dirty="0">
                <a:solidFill>
                  <a:schemeClr val="bg1"/>
                </a:solidFill>
              </a:rPr>
              <a:t>Lidia Conde Matos, Lucía Martínez Garrido, Marina </a:t>
            </a:r>
            <a:r>
              <a:rPr lang="es-ES_tradnl" b="1" i="1" dirty="0" err="1">
                <a:solidFill>
                  <a:schemeClr val="bg1"/>
                </a:solidFill>
              </a:rPr>
              <a:t>Monzo</a:t>
            </a:r>
            <a:r>
              <a:rPr lang="es-ES_tradnl" b="1" i="1" dirty="0">
                <a:solidFill>
                  <a:schemeClr val="bg1"/>
                </a:solidFill>
              </a:rPr>
              <a:t> Gallego, Maria Elena Martínez Garrido, Miguel Grande </a:t>
            </a:r>
            <a:r>
              <a:rPr lang="es-ES_tradnl" b="1" i="1" dirty="0" err="1">
                <a:solidFill>
                  <a:schemeClr val="bg1"/>
                </a:solidFill>
              </a:rPr>
              <a:t>Falceto</a:t>
            </a:r>
            <a:r>
              <a:rPr lang="es-ES_tradnl" b="1" i="1" dirty="0">
                <a:solidFill>
                  <a:schemeClr val="bg1"/>
                </a:solidFill>
              </a:rPr>
              <a:t>, Nuria Fernández Pérez, Paula Andrea Sánchez Álvarez</a:t>
            </a:r>
          </a:p>
        </p:txBody>
      </p:sp>
      <p:grpSp>
        <p:nvGrpSpPr>
          <p:cNvPr id="33" name="Grupo 32">
            <a:extLst>
              <a:ext uri="{FF2B5EF4-FFF2-40B4-BE49-F238E27FC236}">
                <a16:creationId xmlns:a16="http://schemas.microsoft.com/office/drawing/2014/main" id="{2C6C9477-586D-D4FB-ADEE-063D77B3A812}"/>
              </a:ext>
            </a:extLst>
          </p:cNvPr>
          <p:cNvGrpSpPr/>
          <p:nvPr/>
        </p:nvGrpSpPr>
        <p:grpSpPr>
          <a:xfrm>
            <a:off x="207596" y="17303689"/>
            <a:ext cx="9095800" cy="3844742"/>
            <a:chOff x="225181" y="17303689"/>
            <a:chExt cx="9095800" cy="3844742"/>
          </a:xfrm>
        </p:grpSpPr>
        <p:sp>
          <p:nvSpPr>
            <p:cNvPr id="34" name="Rectángulo redondeado 33">
              <a:extLst>
                <a:ext uri="{FF2B5EF4-FFF2-40B4-BE49-F238E27FC236}">
                  <a16:creationId xmlns:a16="http://schemas.microsoft.com/office/drawing/2014/main" id="{1B34C5B1-3A9B-391B-803D-711026F44639}"/>
                </a:ext>
              </a:extLst>
            </p:cNvPr>
            <p:cNvSpPr/>
            <p:nvPr/>
          </p:nvSpPr>
          <p:spPr>
            <a:xfrm>
              <a:off x="225181" y="17620211"/>
              <a:ext cx="9095800" cy="3528220"/>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endParaRPr lang="es-ES" i="1" dirty="0">
                <a:solidFill>
                  <a:schemeClr val="tx1"/>
                </a:solidFill>
              </a:endParaRPr>
            </a:p>
            <a:p>
              <a:pPr algn="just">
                <a:lnSpc>
                  <a:spcPct val="80000"/>
                </a:lnSpc>
              </a:pPr>
              <a:r>
                <a:rPr lang="es-ES" i="1" dirty="0">
                  <a:solidFill>
                    <a:schemeClr val="tx1"/>
                  </a:solidFill>
                </a:rPr>
                <a:t>El análisis de expresión diferencial identificó a LEPR y NTRK2 como los genes con cambios más robustos entre individuos obesos y </a:t>
              </a:r>
              <a:r>
                <a:rPr lang="es-ES" i="1" dirty="0" err="1">
                  <a:solidFill>
                    <a:schemeClr val="tx1"/>
                  </a:solidFill>
                </a:rPr>
                <a:t>normopeso</a:t>
              </a:r>
              <a:r>
                <a:rPr lang="es-ES" i="1" dirty="0">
                  <a:solidFill>
                    <a:schemeClr val="tx1"/>
                  </a:solidFill>
                </a:rPr>
                <a:t>, manteniendo su significación tras la normalización de los datos. La sobreexpresión de LEPR en el grupo obeso es coherente con la literatura, que describe alteraciones en la señalización del eje leptina–receptor asociadas a obesidad y resistencia a la leptina, un mecanismo clave en la regulación del balance energético (</a:t>
              </a:r>
              <a:r>
                <a:rPr lang="es-ES" i="1" dirty="0" err="1">
                  <a:solidFill>
                    <a:schemeClr val="tx1"/>
                  </a:solidFill>
                </a:rPr>
                <a:t>Durak</a:t>
              </a:r>
              <a:r>
                <a:rPr lang="es-ES" i="1" dirty="0">
                  <a:solidFill>
                    <a:schemeClr val="tx1"/>
                  </a:solidFill>
                </a:rPr>
                <a:t> et al., 2025). Por otro lado, la disminución de NTRK2, receptor del factor neurotrófico derivado del cerebro (BDNF), sugiere una posible alteración en las vías implicadas en el control del apetito y la homeostasis energética, ampliamente descritas en modelos metabólicos (Pandit et al., 2020).Otros genes clásicamente asociados a obesidad, como LEP, MC4R, BDNF o PCSK1 (Loos &amp; </a:t>
              </a:r>
              <a:r>
                <a:rPr lang="es-ES" i="1" dirty="0" err="1">
                  <a:solidFill>
                    <a:schemeClr val="tx1"/>
                  </a:solidFill>
                </a:rPr>
                <a:t>Yeo</a:t>
              </a:r>
              <a:r>
                <a:rPr lang="es-ES" i="1" dirty="0">
                  <a:solidFill>
                    <a:schemeClr val="tx1"/>
                  </a:solidFill>
                </a:rPr>
                <a:t>, 2022), mostraron diferencias de expresión únicamente en el análisis sin normalización, perdiendo significación tras este paso. </a:t>
              </a:r>
            </a:p>
          </p:txBody>
        </p:sp>
        <p:sp>
          <p:nvSpPr>
            <p:cNvPr id="35" name="Rectángulo redondeado 34">
              <a:extLst>
                <a:ext uri="{FF2B5EF4-FFF2-40B4-BE49-F238E27FC236}">
                  <a16:creationId xmlns:a16="http://schemas.microsoft.com/office/drawing/2014/main" id="{3BC039B6-C9D2-02F3-8F27-C85043A7CC84}"/>
                </a:ext>
              </a:extLst>
            </p:cNvPr>
            <p:cNvSpPr/>
            <p:nvPr/>
          </p:nvSpPr>
          <p:spPr>
            <a:xfrm>
              <a:off x="518258" y="17303689"/>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DISCUSIÓN</a:t>
              </a:r>
            </a:p>
          </p:txBody>
        </p:sp>
      </p:grpSp>
      <p:grpSp>
        <p:nvGrpSpPr>
          <p:cNvPr id="36" name="Grupo 35">
            <a:extLst>
              <a:ext uri="{FF2B5EF4-FFF2-40B4-BE49-F238E27FC236}">
                <a16:creationId xmlns:a16="http://schemas.microsoft.com/office/drawing/2014/main" id="{7CDA7380-1384-C476-FC20-7A4A09E7B7FE}"/>
              </a:ext>
            </a:extLst>
          </p:cNvPr>
          <p:cNvGrpSpPr/>
          <p:nvPr/>
        </p:nvGrpSpPr>
        <p:grpSpPr>
          <a:xfrm>
            <a:off x="9509873" y="17303689"/>
            <a:ext cx="5366712" cy="3844742"/>
            <a:chOff x="7784856" y="17303689"/>
            <a:chExt cx="7109314" cy="3844742"/>
          </a:xfrm>
        </p:grpSpPr>
        <p:sp>
          <p:nvSpPr>
            <p:cNvPr id="37" name="Rectángulo redondeado 36">
              <a:extLst>
                <a:ext uri="{FF2B5EF4-FFF2-40B4-BE49-F238E27FC236}">
                  <a16:creationId xmlns:a16="http://schemas.microsoft.com/office/drawing/2014/main" id="{367F38DE-6476-4ED5-51AD-7070BD6A603F}"/>
                </a:ext>
              </a:extLst>
            </p:cNvPr>
            <p:cNvSpPr/>
            <p:nvPr/>
          </p:nvSpPr>
          <p:spPr>
            <a:xfrm>
              <a:off x="7784856" y="17620211"/>
              <a:ext cx="7109314" cy="3528220"/>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endParaRPr lang="es-ES" i="1" dirty="0">
                <a:solidFill>
                  <a:schemeClr val="tx1"/>
                </a:solidFill>
              </a:endParaRPr>
            </a:p>
            <a:p>
              <a:pPr algn="just">
                <a:lnSpc>
                  <a:spcPct val="80000"/>
                </a:lnSpc>
              </a:pPr>
              <a:r>
                <a:rPr lang="es-ES" i="1" dirty="0">
                  <a:solidFill>
                    <a:schemeClr val="tx1"/>
                  </a:solidFill>
                </a:rPr>
                <a:t>El análisis de RNA-</a:t>
              </a:r>
              <a:r>
                <a:rPr lang="es-ES" i="1" dirty="0" err="1">
                  <a:solidFill>
                    <a:schemeClr val="tx1"/>
                  </a:solidFill>
                </a:rPr>
                <a:t>seq</a:t>
              </a:r>
              <a:r>
                <a:rPr lang="es-ES" i="1" dirty="0">
                  <a:solidFill>
                    <a:schemeClr val="tx1"/>
                  </a:solidFill>
                </a:rPr>
                <a:t> permitió identificar genes diferencialmente expresados entre individuos obesos y </a:t>
              </a:r>
              <a:r>
                <a:rPr lang="es-ES" i="1" dirty="0" err="1">
                  <a:solidFill>
                    <a:schemeClr val="tx1"/>
                  </a:solidFill>
                </a:rPr>
                <a:t>normopeso</a:t>
              </a:r>
              <a:r>
                <a:rPr lang="es-ES" i="1" dirty="0">
                  <a:solidFill>
                    <a:schemeClr val="tx1"/>
                  </a:solidFill>
                </a:rPr>
                <a:t>, destacando LEPR y NTRK2 como los cambios más robustos tras normalización. La comparación de análisis con y sin normalización evidenció la importancia de este paso para reducir efectos técnicos. No obstante, los resultados deben interpretarse con cautela debido al tamaño muestral reducido, el desconocimiento del tejido de origen y la posible influencia de variables </a:t>
              </a:r>
              <a:r>
                <a:rPr lang="es-ES" i="1" dirty="0" err="1">
                  <a:solidFill>
                    <a:schemeClr val="tx1"/>
                  </a:solidFill>
                </a:rPr>
                <a:t>confusoras</a:t>
              </a:r>
              <a:r>
                <a:rPr lang="es-ES" i="1" dirty="0">
                  <a:solidFill>
                    <a:schemeClr val="tx1"/>
                  </a:solidFill>
                </a:rPr>
                <a:t> como la edad y el sexo.</a:t>
              </a:r>
              <a:endParaRPr lang="es-ES_tradnl" sz="2400" i="1" dirty="0">
                <a:solidFill>
                  <a:schemeClr val="tx1"/>
                </a:solidFill>
              </a:endParaRPr>
            </a:p>
          </p:txBody>
        </p:sp>
        <p:sp>
          <p:nvSpPr>
            <p:cNvPr id="38" name="Rectángulo redondeado 37">
              <a:extLst>
                <a:ext uri="{FF2B5EF4-FFF2-40B4-BE49-F238E27FC236}">
                  <a16:creationId xmlns:a16="http://schemas.microsoft.com/office/drawing/2014/main" id="{0757AA33-190F-8E74-0CAC-D7C442BACE75}"/>
                </a:ext>
              </a:extLst>
            </p:cNvPr>
            <p:cNvSpPr/>
            <p:nvPr/>
          </p:nvSpPr>
          <p:spPr>
            <a:xfrm>
              <a:off x="8077933" y="17303689"/>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CONCLUSIONES</a:t>
              </a:r>
            </a:p>
          </p:txBody>
        </p:sp>
      </p:grpSp>
      <p:sp>
        <p:nvSpPr>
          <p:cNvPr id="40" name="Rectángulo redondeado 39">
            <a:extLst>
              <a:ext uri="{FF2B5EF4-FFF2-40B4-BE49-F238E27FC236}">
                <a16:creationId xmlns:a16="http://schemas.microsoft.com/office/drawing/2014/main" id="{3F03464F-6AD8-145A-F4F0-58880920BB73}"/>
              </a:ext>
            </a:extLst>
          </p:cNvPr>
          <p:cNvSpPr/>
          <p:nvPr/>
        </p:nvSpPr>
        <p:spPr>
          <a:xfrm>
            <a:off x="518258" y="11972983"/>
            <a:ext cx="13959752" cy="633046"/>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80000"/>
              </a:lnSpc>
              <a:spcBef>
                <a:spcPts val="0"/>
              </a:spcBef>
              <a:spcAft>
                <a:spcPts val="0"/>
              </a:spcAft>
              <a:buClrTx/>
              <a:buSzTx/>
              <a:buFontTx/>
              <a:buNone/>
              <a:tabLst/>
              <a:defRPr/>
            </a:pPr>
            <a:r>
              <a:rPr kumimoji="0" lang="es-ES_tradnl" sz="1800" b="1" i="0" u="none" strike="noStrike" kern="1200" cap="none" spc="0" normalizeH="0" baseline="0" noProof="0" dirty="0">
                <a:ln>
                  <a:noFill/>
                </a:ln>
                <a:solidFill>
                  <a:srgbClr val="4196C9"/>
                </a:solidFill>
                <a:effectLst/>
                <a:uLnTx/>
                <a:uFillTx/>
                <a:latin typeface="Aptos" panose="02110004020202020204"/>
                <a:ea typeface="+mn-ea"/>
                <a:cs typeface="+mn-cs"/>
              </a:rPr>
              <a:t>Figura 2. </a:t>
            </a:r>
            <a:r>
              <a:rPr kumimoji="0" lang="es-ES" sz="1800" i="0" u="none" strike="noStrike" kern="1200" cap="none" spc="0" normalizeH="0" baseline="0" noProof="0" dirty="0" err="1">
                <a:ln>
                  <a:noFill/>
                </a:ln>
                <a:solidFill>
                  <a:schemeClr val="tx1"/>
                </a:solidFill>
                <a:effectLst/>
                <a:uLnTx/>
                <a:uFillTx/>
                <a:latin typeface="Aptos" panose="02110004020202020204"/>
                <a:ea typeface="+mn-ea"/>
                <a:cs typeface="+mn-cs"/>
              </a:rPr>
              <a:t>Heatmap</a:t>
            </a:r>
            <a:r>
              <a:rPr kumimoji="0" lang="es-ES" sz="1800" i="0" u="none" strike="noStrike" kern="1200" cap="none" spc="0" normalizeH="0" baseline="0" noProof="0" dirty="0">
                <a:ln>
                  <a:noFill/>
                </a:ln>
                <a:solidFill>
                  <a:schemeClr val="tx1"/>
                </a:solidFill>
                <a:effectLst/>
                <a:uLnTx/>
                <a:uFillTx/>
                <a:latin typeface="Aptos" panose="02110004020202020204"/>
                <a:ea typeface="+mn-ea"/>
                <a:cs typeface="+mn-cs"/>
              </a:rPr>
              <a:t> de expresión génica normalizada de genes analizados en las distintas muestras.</a:t>
            </a:r>
            <a:endParaRPr kumimoji="0" lang="es-ES_tradnl"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41" name="Rectángulo redondeado 40">
            <a:extLst>
              <a:ext uri="{FF2B5EF4-FFF2-40B4-BE49-F238E27FC236}">
                <a16:creationId xmlns:a16="http://schemas.microsoft.com/office/drawing/2014/main" id="{A5674FB9-8324-DF2F-A950-34B0495EFB78}"/>
              </a:ext>
            </a:extLst>
          </p:cNvPr>
          <p:cNvSpPr/>
          <p:nvPr/>
        </p:nvSpPr>
        <p:spPr>
          <a:xfrm>
            <a:off x="518258" y="14009166"/>
            <a:ext cx="13959752" cy="633046"/>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80000"/>
              </a:lnSpc>
              <a:spcBef>
                <a:spcPts val="0"/>
              </a:spcBef>
              <a:spcAft>
                <a:spcPts val="0"/>
              </a:spcAft>
              <a:buClrTx/>
              <a:buSzTx/>
              <a:buFontTx/>
              <a:buNone/>
              <a:tabLst/>
              <a:defRPr/>
            </a:pPr>
            <a:r>
              <a:rPr kumimoji="0" lang="es-ES_tradnl" sz="1800" b="1" i="0" u="none" strike="noStrike" kern="1200" cap="none" spc="0" normalizeH="0" baseline="0" noProof="0" dirty="0">
                <a:ln>
                  <a:noFill/>
                </a:ln>
                <a:solidFill>
                  <a:srgbClr val="4196C9"/>
                </a:solidFill>
                <a:effectLst/>
                <a:uLnTx/>
                <a:uFillTx/>
                <a:latin typeface="Aptos" panose="02110004020202020204"/>
                <a:ea typeface="+mn-ea"/>
                <a:cs typeface="+mn-cs"/>
              </a:rPr>
              <a:t>Figura 3. </a:t>
            </a:r>
            <a:r>
              <a:rPr kumimoji="0" lang="es-ES_tradnl" sz="1800" b="0" i="0" u="none" strike="noStrike" kern="1200" cap="none" spc="0" normalizeH="0" baseline="0" noProof="0" dirty="0">
                <a:ln>
                  <a:noFill/>
                </a:ln>
                <a:solidFill>
                  <a:prstClr val="black"/>
                </a:solidFill>
                <a:effectLst/>
                <a:uLnTx/>
                <a:uFillTx/>
                <a:latin typeface="Aptos" panose="02110004020202020204"/>
                <a:ea typeface="+mn-ea"/>
                <a:cs typeface="+mn-cs"/>
              </a:rPr>
              <a:t>?</a:t>
            </a:r>
          </a:p>
        </p:txBody>
      </p:sp>
      <p:sp>
        <p:nvSpPr>
          <p:cNvPr id="27" name="Rectángulo redondeado 38">
            <a:extLst>
              <a:ext uri="{FF2B5EF4-FFF2-40B4-BE49-F238E27FC236}">
                <a16:creationId xmlns:a16="http://schemas.microsoft.com/office/drawing/2014/main" id="{37A037D7-8596-4DC2-A24E-A4159734A36B}"/>
              </a:ext>
            </a:extLst>
          </p:cNvPr>
          <p:cNvSpPr/>
          <p:nvPr/>
        </p:nvSpPr>
        <p:spPr>
          <a:xfrm>
            <a:off x="518258" y="8248681"/>
            <a:ext cx="13959752" cy="633046"/>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80000"/>
              </a:lnSpc>
              <a:spcBef>
                <a:spcPts val="0"/>
              </a:spcBef>
              <a:spcAft>
                <a:spcPts val="0"/>
              </a:spcAft>
              <a:buClrTx/>
              <a:buSzTx/>
              <a:buFontTx/>
              <a:buNone/>
              <a:tabLst/>
              <a:defRPr/>
            </a:pPr>
            <a:r>
              <a:rPr kumimoji="0" lang="es-ES_tradnl" sz="1800" b="1" i="0" u="none" strike="noStrike" kern="1200" cap="none" spc="0" normalizeH="0" baseline="0" noProof="0" dirty="0">
                <a:ln>
                  <a:noFill/>
                </a:ln>
                <a:solidFill>
                  <a:srgbClr val="4196C9"/>
                </a:solidFill>
                <a:effectLst/>
                <a:uLnTx/>
                <a:uFillTx/>
                <a:latin typeface="Aptos" panose="02110004020202020204"/>
                <a:ea typeface="+mn-ea"/>
                <a:cs typeface="+mn-cs"/>
              </a:rPr>
              <a:t>Figura 1. </a:t>
            </a:r>
            <a:r>
              <a:rPr kumimoji="0" lang="es-ES" sz="1800" b="0" i="0" u="none" strike="noStrike" kern="1200" cap="none" spc="0" normalizeH="0" baseline="0" noProof="0" dirty="0" err="1">
                <a:ln>
                  <a:noFill/>
                </a:ln>
                <a:solidFill>
                  <a:prstClr val="black"/>
                </a:solidFill>
                <a:effectLst/>
                <a:uLnTx/>
                <a:uFillTx/>
                <a:latin typeface="Aptos" panose="02110004020202020204"/>
                <a:ea typeface="+mn-ea"/>
                <a:cs typeface="+mn-cs"/>
              </a:rPr>
              <a:t>Volcano</a:t>
            </a:r>
            <a:r>
              <a:rPr kumimoji="0" lang="es-ES" sz="18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s-ES" sz="1800" b="0" i="0" u="none" strike="noStrike" kern="1200" cap="none" spc="0" normalizeH="0" baseline="0" noProof="0" dirty="0" err="1">
                <a:ln>
                  <a:noFill/>
                </a:ln>
                <a:solidFill>
                  <a:prstClr val="black"/>
                </a:solidFill>
                <a:effectLst/>
                <a:uLnTx/>
                <a:uFillTx/>
                <a:latin typeface="Aptos" panose="02110004020202020204"/>
                <a:ea typeface="+mn-ea"/>
                <a:cs typeface="+mn-cs"/>
              </a:rPr>
              <a:t>plot</a:t>
            </a:r>
            <a:r>
              <a:rPr kumimoji="0" lang="es-ES" sz="1800" b="0" i="0" u="none" strike="noStrike" kern="1200" cap="none" spc="0" normalizeH="0" baseline="0" noProof="0" dirty="0">
                <a:ln>
                  <a:noFill/>
                </a:ln>
                <a:solidFill>
                  <a:prstClr val="black"/>
                </a:solidFill>
                <a:effectLst/>
                <a:uLnTx/>
                <a:uFillTx/>
                <a:latin typeface="Aptos" panose="02110004020202020204"/>
                <a:ea typeface="+mn-ea"/>
                <a:cs typeface="+mn-cs"/>
              </a:rPr>
              <a:t> del análisis de expresión diferencial entre individuos obesos y </a:t>
            </a:r>
            <a:r>
              <a:rPr kumimoji="0" lang="es-ES" sz="1800" b="0" i="0" u="none" strike="noStrike" kern="1200" cap="none" spc="0" normalizeH="0" baseline="0" noProof="0" dirty="0" err="1">
                <a:ln>
                  <a:noFill/>
                </a:ln>
                <a:solidFill>
                  <a:prstClr val="black"/>
                </a:solidFill>
                <a:effectLst/>
                <a:uLnTx/>
                <a:uFillTx/>
                <a:latin typeface="Aptos" panose="02110004020202020204"/>
                <a:ea typeface="+mn-ea"/>
                <a:cs typeface="+mn-cs"/>
              </a:rPr>
              <a:t>normopeso</a:t>
            </a:r>
            <a:r>
              <a:rPr kumimoji="0" lang="es-ES" sz="1800" b="0" i="0" u="none" strike="noStrike" kern="1200" cap="none" spc="0" normalizeH="0" baseline="0" noProof="0" dirty="0">
                <a:ln>
                  <a:noFill/>
                </a:ln>
                <a:solidFill>
                  <a:prstClr val="black"/>
                </a:solidFill>
                <a:effectLst/>
                <a:uLnTx/>
                <a:uFillTx/>
                <a:latin typeface="Aptos" panose="02110004020202020204"/>
                <a:ea typeface="+mn-ea"/>
                <a:cs typeface="+mn-cs"/>
              </a:rPr>
              <a:t> tras normalización. Se representan el cambio de expresión (log2FoldChange) y la significación estadística (–log10(</a:t>
            </a:r>
            <a:r>
              <a:rPr kumimoji="0" lang="es-ES" sz="1800" b="0" i="0" u="none" strike="noStrike" kern="1200" cap="none" spc="0" normalizeH="0" baseline="0" noProof="0" dirty="0" err="1">
                <a:ln>
                  <a:noFill/>
                </a:ln>
                <a:solidFill>
                  <a:prstClr val="black"/>
                </a:solidFill>
                <a:effectLst/>
                <a:uLnTx/>
                <a:uFillTx/>
                <a:latin typeface="Aptos" panose="02110004020202020204"/>
                <a:ea typeface="+mn-ea"/>
                <a:cs typeface="+mn-cs"/>
              </a:rPr>
              <a:t>padj</a:t>
            </a:r>
            <a:r>
              <a:rPr kumimoji="0" lang="es-ES" sz="1800" b="0" i="0" u="none" strike="noStrike" kern="1200" cap="none" spc="0" normalizeH="0" baseline="0" noProof="0" dirty="0">
                <a:ln>
                  <a:noFill/>
                </a:ln>
                <a:solidFill>
                  <a:prstClr val="black"/>
                </a:solidFill>
                <a:effectLst/>
                <a:uLnTx/>
                <a:uFillTx/>
                <a:latin typeface="Aptos" panose="02110004020202020204"/>
                <a:ea typeface="+mn-ea"/>
                <a:cs typeface="+mn-cs"/>
              </a:rPr>
              <a:t>))</a:t>
            </a:r>
            <a:r>
              <a:rPr kumimoji="0" lang="es-ES_tradnl" sz="1800" b="0" i="0" u="none" strike="noStrike" kern="1200" cap="none" spc="0" normalizeH="0" baseline="0" noProof="0" dirty="0">
                <a:ln>
                  <a:noFill/>
                </a:ln>
                <a:solidFill>
                  <a:prstClr val="black"/>
                </a:solidFill>
                <a:effectLst/>
                <a:uLnTx/>
                <a:uFillTx/>
                <a:latin typeface="Aptos" panose="02110004020202020204"/>
                <a:ea typeface="+mn-ea"/>
                <a:cs typeface="+mn-cs"/>
              </a:rPr>
              <a:t>.</a:t>
            </a:r>
          </a:p>
        </p:txBody>
      </p:sp>
      <p:sp>
        <p:nvSpPr>
          <p:cNvPr id="12" name="CuadroTexto 11">
            <a:extLst>
              <a:ext uri="{FF2B5EF4-FFF2-40B4-BE49-F238E27FC236}">
                <a16:creationId xmlns:a16="http://schemas.microsoft.com/office/drawing/2014/main" id="{967AAE85-8ACC-4BC8-8C76-FBD203C51CEF}"/>
              </a:ext>
            </a:extLst>
          </p:cNvPr>
          <p:cNvSpPr txBox="1"/>
          <p:nvPr/>
        </p:nvSpPr>
        <p:spPr>
          <a:xfrm>
            <a:off x="891251" y="9525965"/>
            <a:ext cx="8839861" cy="369332"/>
          </a:xfrm>
          <a:prstGeom prst="rect">
            <a:avLst/>
          </a:prstGeom>
          <a:noFill/>
        </p:spPr>
        <p:txBody>
          <a:bodyPr wrap="square" rtlCol="0">
            <a:spAutoFit/>
          </a:bodyPr>
          <a:lstStyle/>
          <a:p>
            <a:r>
              <a:rPr lang="es-ES" dirty="0"/>
              <a:t>Título: Análisis de expresión diferencial entre individuos obesos y </a:t>
            </a:r>
            <a:r>
              <a:rPr lang="es-ES" dirty="0" err="1"/>
              <a:t>normopeso</a:t>
            </a:r>
            <a:r>
              <a:rPr lang="es-ES" dirty="0"/>
              <a:t> (DESeq2)?</a:t>
            </a:r>
            <a:endParaRPr lang="ca-ES" dirty="0"/>
          </a:p>
        </p:txBody>
      </p:sp>
    </p:spTree>
    <p:extLst>
      <p:ext uri="{BB962C8B-B14F-4D97-AF65-F5344CB8AC3E}">
        <p14:creationId xmlns:p14="http://schemas.microsoft.com/office/powerpoint/2010/main" val="4045999932"/>
      </p:ext>
    </p:extLst>
  </p:cSld>
  <p:clrMapOvr>
    <a:masterClrMapping/>
  </p:clrMapOvr>
</p:sld>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ema de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Flow_SignoffStatus xmlns="27c1adeb-3674-457c-b08c-8a73f31b6e23" xsi:nil="true"/>
    <lcf76f155ced4ddcb4097134ff3c332f xmlns="27c1adeb-3674-457c-b08c-8a73f31b6e23">
      <Terms xmlns="http://schemas.microsoft.com/office/infopath/2007/PartnerControls"/>
    </lcf76f155ced4ddcb4097134ff3c332f>
    <TaxCatchAll xmlns="0a70e875-3d35-4be2-921f-7117c31bab9b"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o" ma:contentTypeID="0x010100DF3D7C797EA12745A270EF30E38719B9" ma:contentTypeVersion="20" ma:contentTypeDescription="Crear nuevo documento." ma:contentTypeScope="" ma:versionID="98b23ce13f8ef13134c980882a27b8cc">
  <xsd:schema xmlns:xsd="http://www.w3.org/2001/XMLSchema" xmlns:xs="http://www.w3.org/2001/XMLSchema" xmlns:p="http://schemas.microsoft.com/office/2006/metadata/properties" xmlns:ns2="0a70e875-3d35-4be2-921f-7117c31bab9b" xmlns:ns3="27c1adeb-3674-457c-b08c-8a73f31b6e23" targetNamespace="http://schemas.microsoft.com/office/2006/metadata/properties" ma:root="true" ma:fieldsID="83d50475b18a8f95f7f8edf1c6caa3f2" ns2:_="" ns3:_="">
    <xsd:import namespace="0a70e875-3d35-4be2-921f-7117c31bab9b"/>
    <xsd:import namespace="27c1adeb-3674-457c-b08c-8a73f31b6e23"/>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LengthInSeconds" minOccurs="0"/>
                <xsd:element ref="ns3:MediaServiceLocation" minOccurs="0"/>
                <xsd:element ref="ns3:lcf76f155ced4ddcb4097134ff3c332f" minOccurs="0"/>
                <xsd:element ref="ns2:TaxCatchAll" minOccurs="0"/>
                <xsd:element ref="ns3:MediaServiceSearchProperties" minOccurs="0"/>
                <xsd:element ref="ns3:_Flow_SignoffStatus" minOccurs="0"/>
                <xsd:element ref="ns3:MediaServiceObjectDetectorVersion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a70e875-3d35-4be2-921f-7117c31bab9b" elementFormDefault="qualified">
    <xsd:import namespace="http://schemas.microsoft.com/office/2006/documentManagement/types"/>
    <xsd:import namespace="http://schemas.microsoft.com/office/infopath/2007/PartnerControls"/>
    <xsd:element name="SharedWithUsers" ma:index="8"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Detalles de uso compartido" ma:internalName="SharedWithDetails" ma:readOnly="true">
      <xsd:simpleType>
        <xsd:restriction base="dms:Note">
          <xsd:maxLength value="255"/>
        </xsd:restriction>
      </xsd:simpleType>
    </xsd:element>
    <xsd:element name="TaxCatchAll" ma:index="23" nillable="true" ma:displayName="Taxonomy Catch All Column" ma:hidden="true" ma:list="{c7f67346-78c9-4c4d-b954-8d350fdf60db}" ma:internalName="TaxCatchAll" ma:showField="CatchAllData" ma:web="0a70e875-3d35-4be2-921f-7117c31bab9b">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27c1adeb-3674-457c-b08c-8a73f31b6e23"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Etiquetas de imagen" ma:readOnly="false" ma:fieldId="{5cf76f15-5ced-4ddc-b409-7134ff3c332f}" ma:taxonomyMulti="true" ma:sspId="17631b59-e624-4eb7-963c-219f14f887a3" ma:termSetId="09814cd3-568e-fe90-9814-8d621ff8fb84" ma:anchorId="fba54fb3-c3e1-fe81-a776-ca4b69148c4d" ma:open="true" ma:isKeyword="false">
      <xsd:complexType>
        <xsd:sequence>
          <xsd:element ref="pc:Terms" minOccurs="0" maxOccurs="1"/>
        </xsd:sequence>
      </xsd:complexType>
    </xsd:element>
    <xsd:element name="MediaServiceSearchProperties" ma:index="24" nillable="true" ma:displayName="MediaServiceSearchProperties" ma:hidden="true" ma:internalName="MediaServiceSearchProperties" ma:readOnly="true">
      <xsd:simpleType>
        <xsd:restriction base="dms:Note"/>
      </xsd:simpleType>
    </xsd:element>
    <xsd:element name="_Flow_SignoffStatus" ma:index="25" nillable="true" ma:displayName="Estado de aprobación" ma:internalName="Estado_x0020_de_x0020_aprobaci_x00f3_n">
      <xsd:simpleType>
        <xsd:restriction base="dms:Text"/>
      </xsd:simple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48B5577-5CCE-4E9D-BDFA-952900719EE2}">
  <ds:schemaRefs>
    <ds:schemaRef ds:uri="http://schemas.microsoft.com/office/2006/metadata/properties"/>
    <ds:schemaRef ds:uri="http://schemas.microsoft.com/office/infopath/2007/PartnerControls"/>
    <ds:schemaRef ds:uri="27c1adeb-3674-457c-b08c-8a73f31b6e23"/>
    <ds:schemaRef ds:uri="0a70e875-3d35-4be2-921f-7117c31bab9b"/>
  </ds:schemaRefs>
</ds:datastoreItem>
</file>

<file path=customXml/itemProps2.xml><?xml version="1.0" encoding="utf-8"?>
<ds:datastoreItem xmlns:ds="http://schemas.openxmlformats.org/officeDocument/2006/customXml" ds:itemID="{53E95016-93A9-4903-BA02-7A05B5939C79}">
  <ds:schemaRefs>
    <ds:schemaRef ds:uri="http://schemas.microsoft.com/sharepoint/v3/contenttype/forms"/>
  </ds:schemaRefs>
</ds:datastoreItem>
</file>

<file path=customXml/itemProps3.xml><?xml version="1.0" encoding="utf-8"?>
<ds:datastoreItem xmlns:ds="http://schemas.openxmlformats.org/officeDocument/2006/customXml" ds:itemID="{EA933766-0056-42DC-9416-E7C06BCFC09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a70e875-3d35-4be2-921f-7117c31bab9b"/>
    <ds:schemaRef ds:uri="27c1adeb-3674-457c-b08c-8a73f31b6e2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0361ecad-3f61-4749-aa5c-87fde47ef9ad}" enabled="1" method="Privileged" siteId="{22c8b4a4-d926-43b2-bcc7-87b998590b47}" contentBits="0" removed="0"/>
</clbl:labelList>
</file>

<file path=docProps/app.xml><?xml version="1.0" encoding="utf-8"?>
<Properties xmlns="http://schemas.openxmlformats.org/officeDocument/2006/extended-properties" xmlns:vt="http://schemas.openxmlformats.org/officeDocument/2006/docPropsVTypes">
  <Template>Office Theme</Template>
  <TotalTime>340</TotalTime>
  <Words>541</Words>
  <Application>Microsoft Office PowerPoint</Application>
  <PresentationFormat>Personalizado</PresentationFormat>
  <Paragraphs>19</Paragraphs>
  <Slides>1</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vt:i4>
      </vt:variant>
    </vt:vector>
  </HeadingPairs>
  <TitlesOfParts>
    <vt:vector size="5" baseType="lpstr">
      <vt:lpstr>Aptos</vt:lpstr>
      <vt:lpstr>Aptos Display</vt:lpstr>
      <vt:lpstr>Arial</vt:lpstr>
      <vt:lpstr>Tema de Office</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Victor  de la O Pascual</dc:creator>
  <cp:lastModifiedBy>PAULA ANDREA SANCHEZ ALVAREZ</cp:lastModifiedBy>
  <cp:revision>29</cp:revision>
  <dcterms:created xsi:type="dcterms:W3CDTF">2025-04-21T10:03:24Z</dcterms:created>
  <dcterms:modified xsi:type="dcterms:W3CDTF">2025-12-19T20:01:32Z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0x010100DF3D7C797EA12745A270EF30E38719B9</vt:lpwstr>
  </property>
  <property fmtid="{D5CDD505-2E9C-101B-9397-08002B2CF9AE}" pid="3" name="MediaServiceImageTags">
    <vt:lpwstr/>
  </property>
</Properties>
</file>